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20"/>
  </p:notesMasterIdLst>
  <p:handoutMasterIdLst>
    <p:handoutMasterId r:id="rId21"/>
  </p:handoutMasterIdLst>
  <p:sldIdLst>
    <p:sldId id="376" r:id="rId5"/>
    <p:sldId id="378" r:id="rId6"/>
    <p:sldId id="389" r:id="rId7"/>
    <p:sldId id="394" r:id="rId8"/>
    <p:sldId id="393" r:id="rId9"/>
    <p:sldId id="400" r:id="rId10"/>
    <p:sldId id="395" r:id="rId11"/>
    <p:sldId id="396" r:id="rId12"/>
    <p:sldId id="397" r:id="rId13"/>
    <p:sldId id="401" r:id="rId14"/>
    <p:sldId id="398" r:id="rId15"/>
    <p:sldId id="399" r:id="rId16"/>
    <p:sldId id="402" r:id="rId17"/>
    <p:sldId id="392" r:id="rId18"/>
    <p:sldId id="38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229" autoAdjust="0"/>
  </p:normalViewPr>
  <p:slideViewPr>
    <p:cSldViewPr snapToGrid="0" showGuides="1">
      <p:cViewPr varScale="1">
        <p:scale>
          <a:sx n="70" d="100"/>
          <a:sy n="70" d="100"/>
        </p:scale>
        <p:origin x="1166" y="53"/>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3082" y="3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2/1/2026</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dirty="0"/>
          </a:p>
        </p:txBody>
      </p:sp>
    </p:spTree>
    <p:extLst>
      <p:ext uri="{BB962C8B-B14F-4D97-AF65-F5344CB8AC3E}">
        <p14:creationId xmlns:p14="http://schemas.microsoft.com/office/powerpoint/2010/main" val="2278711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100" kern="1200" dirty="0">
                <a:solidFill>
                  <a:schemeClr val="tx1"/>
                </a:solidFill>
                <a:effectLst/>
                <a:latin typeface="Posterama (Headings)"/>
                <a:ea typeface="+mn-ea"/>
                <a:cs typeface="+mn-cs"/>
              </a:rPr>
              <a:t>Stroke is one of the top causes of death and disability worldwide. Early prediction is vital to reduce mortality and long-term complications.</a:t>
            </a:r>
          </a:p>
          <a:p>
            <a:pPr algn="just"/>
            <a:r>
              <a:rPr lang="en-US" sz="1100" kern="1200" dirty="0">
                <a:solidFill>
                  <a:schemeClr val="tx1"/>
                </a:solidFill>
                <a:effectLst/>
                <a:latin typeface="Posterama (Headings)"/>
                <a:ea typeface="+mn-ea"/>
                <a:cs typeface="+mn-cs"/>
              </a:rPr>
              <a:t>Traditional models often lack the capacity to capture complex relationships among risk factors. This is where machine learning can make a real impact, offering better predictive accuracy and potentially life-saving insights.</a:t>
            </a:r>
            <a:endParaRPr lang="en-US" sz="1100" dirty="0">
              <a:latin typeface="Posterama (Headings)"/>
            </a:endParaRPr>
          </a:p>
        </p:txBody>
      </p:sp>
      <p:sp>
        <p:nvSpPr>
          <p:cNvPr id="4" name="Slide Number Placeholder 3"/>
          <p:cNvSpPr>
            <a:spLocks noGrp="1"/>
          </p:cNvSpPr>
          <p:nvPr>
            <p:ph type="sldNum" sz="quarter" idx="5"/>
          </p:nvPr>
        </p:nvSpPr>
        <p:spPr/>
        <p:txBody>
          <a:bodyPr/>
          <a:lstStyle/>
          <a:p>
            <a:fld id="{4AED498D-6977-40EC-8E5E-7EB644D5E759}" type="slidenum">
              <a:rPr lang="en-US" noProof="0" smtClean="0"/>
              <a:t>3</a:t>
            </a:fld>
            <a:endParaRPr lang="en-US" noProof="0" dirty="0"/>
          </a:p>
        </p:txBody>
      </p:sp>
    </p:spTree>
    <p:extLst>
      <p:ext uri="{BB962C8B-B14F-4D97-AF65-F5344CB8AC3E}">
        <p14:creationId xmlns:p14="http://schemas.microsoft.com/office/powerpoint/2010/main" val="3836897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used a dataset from Kaggle, which contains over 17,047 entries with features that are clinically relevant including age, BMI, glucose levels, and more. The dataset is well-structured and clean, making it ideal for machine learning experiments. The target variable is binary indicating whether a patient has had a stroke.</a:t>
            </a:r>
          </a:p>
        </p:txBody>
      </p:sp>
      <p:sp>
        <p:nvSpPr>
          <p:cNvPr id="4" name="Slide Number Placeholder 3"/>
          <p:cNvSpPr>
            <a:spLocks noGrp="1"/>
          </p:cNvSpPr>
          <p:nvPr>
            <p:ph type="sldNum" sz="quarter" idx="5"/>
          </p:nvPr>
        </p:nvSpPr>
        <p:spPr/>
        <p:txBody>
          <a:bodyPr/>
          <a:lstStyle/>
          <a:p>
            <a:fld id="{4AED498D-6977-40EC-8E5E-7EB644D5E759}" type="slidenum">
              <a:rPr lang="en-US" noProof="0" smtClean="0"/>
              <a:t>4</a:t>
            </a:fld>
            <a:endParaRPr lang="en-US" noProof="0" dirty="0"/>
          </a:p>
        </p:txBody>
      </p:sp>
    </p:spTree>
    <p:extLst>
      <p:ext uri="{BB962C8B-B14F-4D97-AF65-F5344CB8AC3E}">
        <p14:creationId xmlns:p14="http://schemas.microsoft.com/office/powerpoint/2010/main" val="348958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features used for the modeling are presented. We have a combination of demographic, clinical, and behavioral variables. These include age, hypertension status, glucose levels, BMI, and smoking history. Preprocessing such as encoding categorical variables and normalizing numerical ones was essential before training our models.</a:t>
            </a:r>
          </a:p>
        </p:txBody>
      </p:sp>
      <p:sp>
        <p:nvSpPr>
          <p:cNvPr id="4" name="Slide Number Placeholder 3"/>
          <p:cNvSpPr>
            <a:spLocks noGrp="1"/>
          </p:cNvSpPr>
          <p:nvPr>
            <p:ph type="sldNum" sz="quarter" idx="5"/>
          </p:nvPr>
        </p:nvSpPr>
        <p:spPr/>
        <p:txBody>
          <a:bodyPr/>
          <a:lstStyle/>
          <a:p>
            <a:fld id="{4AED498D-6977-40EC-8E5E-7EB644D5E759}" type="slidenum">
              <a:rPr lang="en-US" noProof="0" smtClean="0"/>
              <a:t>5</a:t>
            </a:fld>
            <a:endParaRPr lang="en-US" noProof="0" dirty="0"/>
          </a:p>
        </p:txBody>
      </p:sp>
    </p:spTree>
    <p:extLst>
      <p:ext uri="{BB962C8B-B14F-4D97-AF65-F5344CB8AC3E}">
        <p14:creationId xmlns:p14="http://schemas.microsoft.com/office/powerpoint/2010/main" val="3052123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87D7-7001-3760-2B21-FF02CFAF0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803C2-23C0-DD1D-1CD3-E67E8B72A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17C89-B333-2C9C-9D91-8F0659C8ACED}"/>
              </a:ext>
            </a:extLst>
          </p:cNvPr>
          <p:cNvSpPr>
            <a:spLocks noGrp="1"/>
          </p:cNvSpPr>
          <p:nvPr>
            <p:ph type="body" idx="1"/>
          </p:nvPr>
        </p:nvSpPr>
        <p:spPr/>
        <p:txBody>
          <a:bodyPr/>
          <a:lstStyle/>
          <a:p>
            <a:pPr algn="just"/>
            <a:r>
              <a:rPr lang="en-US" sz="1200" kern="1200" dirty="0">
                <a:solidFill>
                  <a:schemeClr val="tx1"/>
                </a:solidFill>
                <a:effectLst/>
                <a:latin typeface="+mn-lt"/>
                <a:ea typeface="+mn-ea"/>
                <a:cs typeface="+mn-cs"/>
              </a:rPr>
              <a:t>One major challenge with this dataset is class imbalance. Stroke cases are relatively rare compared to non-stroke cases. This imbalance can bias models towards predicting the majority class leading to missed predictions for high-risk patients. Random oversampling, replicating minority stroke cases to match the majority class.</a:t>
            </a:r>
          </a:p>
        </p:txBody>
      </p:sp>
      <p:sp>
        <p:nvSpPr>
          <p:cNvPr id="4" name="Slide Number Placeholder 3">
            <a:extLst>
              <a:ext uri="{FF2B5EF4-FFF2-40B4-BE49-F238E27FC236}">
                <a16:creationId xmlns:a16="http://schemas.microsoft.com/office/drawing/2014/main" id="{E9721C76-36B7-F648-9591-58D2D6A7FDB9}"/>
              </a:ext>
            </a:extLst>
          </p:cNvPr>
          <p:cNvSpPr>
            <a:spLocks noGrp="1"/>
          </p:cNvSpPr>
          <p:nvPr>
            <p:ph type="sldNum" sz="quarter" idx="5"/>
          </p:nvPr>
        </p:nvSpPr>
        <p:spPr/>
        <p:txBody>
          <a:bodyPr/>
          <a:lstStyle/>
          <a:p>
            <a:fld id="{4AED498D-6977-40EC-8E5E-7EB644D5E759}" type="slidenum">
              <a:rPr lang="en-US" noProof="0" smtClean="0"/>
              <a:t>6</a:t>
            </a:fld>
            <a:endParaRPr lang="en-US" noProof="0" dirty="0"/>
          </a:p>
        </p:txBody>
      </p:sp>
    </p:spTree>
    <p:extLst>
      <p:ext uri="{BB962C8B-B14F-4D97-AF65-F5344CB8AC3E}">
        <p14:creationId xmlns:p14="http://schemas.microsoft.com/office/powerpoint/2010/main" val="1638011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process included data cleaning, encoding categorical features, and scaling. Then, we trained each model and evaluated it using standard classification metrics like accuracy, precision, recall, F1-score, and ROC-AUC. We ensured consistency in input and validation settings across models.</a:t>
            </a:r>
          </a:p>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7</a:t>
            </a:fld>
            <a:endParaRPr lang="en-US" noProof="0" dirty="0"/>
          </a:p>
        </p:txBody>
      </p:sp>
    </p:spTree>
    <p:extLst>
      <p:ext uri="{BB962C8B-B14F-4D97-AF65-F5344CB8AC3E}">
        <p14:creationId xmlns:p14="http://schemas.microsoft.com/office/powerpoint/2010/main" val="3666818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1BC6D-B48A-E722-86FC-C4BC36C75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DEC22-CCCC-3F47-75BA-275054DF5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3DD9-2229-1440-A54F-749C66B6FA57}"/>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We tested four machine learning models:</a:t>
            </a:r>
          </a:p>
          <a:p>
            <a:pPr marL="171450" indent="-171450">
              <a:buFont typeface="Wingdings" panose="05000000000000000000" pitchFamily="2" charset="2"/>
              <a:buChar char="ü"/>
            </a:pPr>
            <a:r>
              <a:rPr lang="en-US" sz="1200" kern="1200" dirty="0">
                <a:solidFill>
                  <a:schemeClr val="tx1"/>
                </a:solidFill>
                <a:effectLst/>
                <a:latin typeface="+mn-lt"/>
                <a:ea typeface="+mn-ea"/>
                <a:cs typeface="+mn-cs"/>
              </a:rPr>
              <a:t>Logistic Regression – Baseline model</a:t>
            </a:r>
          </a:p>
          <a:p>
            <a:pPr marL="171450" indent="-171450">
              <a:buFont typeface="Wingdings" panose="05000000000000000000" pitchFamily="2" charset="2"/>
              <a:buChar char="ü"/>
            </a:pPr>
            <a:r>
              <a:rPr lang="en-US" sz="1200" kern="1200" dirty="0">
                <a:solidFill>
                  <a:schemeClr val="tx1"/>
                </a:solidFill>
                <a:effectLst/>
                <a:latin typeface="+mn-lt"/>
                <a:ea typeface="+mn-ea"/>
                <a:cs typeface="+mn-cs"/>
              </a:rPr>
              <a:t>Random Forest Classifier – Ensemble with bagging</a:t>
            </a:r>
          </a:p>
          <a:p>
            <a:pPr marL="171450" indent="-171450">
              <a:buFont typeface="Wingdings" panose="05000000000000000000" pitchFamily="2" charset="2"/>
              <a:buChar char="ü"/>
            </a:pPr>
            <a:r>
              <a:rPr lang="en-US" sz="1200" kern="1200" dirty="0">
                <a:solidFill>
                  <a:schemeClr val="tx1"/>
                </a:solidFill>
                <a:effectLst/>
                <a:latin typeface="+mn-lt"/>
                <a:ea typeface="+mn-ea"/>
                <a:cs typeface="+mn-cs"/>
              </a:rPr>
              <a:t>Support Vector Classifier (SVC) – Margin-based separation</a:t>
            </a:r>
          </a:p>
          <a:p>
            <a:pPr marL="171450" indent="-171450">
              <a:buFont typeface="Wingdings" panose="05000000000000000000" pitchFamily="2" charset="2"/>
              <a:buChar char="ü"/>
            </a:pPr>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 Gradient boosting model with regularization</a:t>
            </a:r>
          </a:p>
          <a:p>
            <a:r>
              <a:rPr lang="en-US" sz="1200" kern="1200" dirty="0">
                <a:solidFill>
                  <a:schemeClr val="tx1"/>
                </a:solidFill>
                <a:effectLst/>
                <a:latin typeface="+mn-lt"/>
                <a:ea typeface="+mn-ea"/>
                <a:cs typeface="+mn-cs"/>
              </a:rPr>
              <a:t>Each was trained on the same preprocessed dataset to ensure consistency </a:t>
            </a:r>
          </a:p>
          <a:p>
            <a:endParaRPr lang="en-US" dirty="0"/>
          </a:p>
        </p:txBody>
      </p:sp>
      <p:sp>
        <p:nvSpPr>
          <p:cNvPr id="4" name="Slide Number Placeholder 3">
            <a:extLst>
              <a:ext uri="{FF2B5EF4-FFF2-40B4-BE49-F238E27FC236}">
                <a16:creationId xmlns:a16="http://schemas.microsoft.com/office/drawing/2014/main" id="{DCAF3B98-3FA1-E2E0-5F65-263779978D82}"/>
              </a:ext>
            </a:extLst>
          </p:cNvPr>
          <p:cNvSpPr>
            <a:spLocks noGrp="1"/>
          </p:cNvSpPr>
          <p:nvPr>
            <p:ph type="sldNum" sz="quarter" idx="5"/>
          </p:nvPr>
        </p:nvSpPr>
        <p:spPr/>
        <p:txBody>
          <a:bodyPr/>
          <a:lstStyle/>
          <a:p>
            <a:fld id="{4AED498D-6977-40EC-8E5E-7EB644D5E759}" type="slidenum">
              <a:rPr lang="en-US" noProof="0" smtClean="0"/>
              <a:t>8</a:t>
            </a:fld>
            <a:endParaRPr lang="en-US" noProof="0" dirty="0"/>
          </a:p>
        </p:txBody>
      </p:sp>
    </p:spTree>
    <p:extLst>
      <p:ext uri="{BB962C8B-B14F-4D97-AF65-F5344CB8AC3E}">
        <p14:creationId xmlns:p14="http://schemas.microsoft.com/office/powerpoint/2010/main" val="1081925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results shows that Random Forest and </a:t>
            </a:r>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dominate in performance, but Random Forest’s perfect score suggest possible overfitting. </a:t>
            </a:r>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balances performance with practicality. Logistic Regression and SVC provide good recall but don’t match the ensemble methods in overall power</a:t>
            </a:r>
          </a:p>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9</a:t>
            </a:fld>
            <a:endParaRPr lang="en-US" noProof="0" dirty="0"/>
          </a:p>
        </p:txBody>
      </p:sp>
    </p:spTree>
    <p:extLst>
      <p:ext uri="{BB962C8B-B14F-4D97-AF65-F5344CB8AC3E}">
        <p14:creationId xmlns:p14="http://schemas.microsoft.com/office/powerpoint/2010/main" val="752035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baseline model achieved an accuracy of 78%. Its performance in identifying stroke patients (recall) was 0.81. It also</a:t>
            </a:r>
            <a:r>
              <a:rPr lang="en-US" dirty="0"/>
              <a:t> correctly predicted 6,903 stroke cases but missed 1,667. It also misclassified 2,152 non-stroke cases.</a:t>
            </a:r>
          </a:p>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10</a:t>
            </a:fld>
            <a:endParaRPr lang="en-US" noProof="0" dirty="0"/>
          </a:p>
        </p:txBody>
      </p:sp>
    </p:spTree>
    <p:extLst>
      <p:ext uri="{BB962C8B-B14F-4D97-AF65-F5344CB8AC3E}">
        <p14:creationId xmlns:p14="http://schemas.microsoft.com/office/powerpoint/2010/main" val="1120744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F5AF-B319-A562-868E-F6A75A079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24990-FFEB-2EA0-2342-00BF6E721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E7EC7-FAB8-F394-3C29-18F882DF1D5B}"/>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Random Forest Classifier achieved a perfect score (100%) across all metrics. This indicates overfitting, meaning that the model have memorized the training data rather than generalizing well. </a:t>
            </a:r>
            <a:r>
              <a:rPr lang="en-US" dirty="0"/>
              <a:t>It correctly identified all 8,570 stroke cases with zero false negatives and misclassified only 9 non-stroke cases. </a:t>
            </a:r>
          </a:p>
        </p:txBody>
      </p:sp>
      <p:sp>
        <p:nvSpPr>
          <p:cNvPr id="4" name="Slide Number Placeholder 3">
            <a:extLst>
              <a:ext uri="{FF2B5EF4-FFF2-40B4-BE49-F238E27FC236}">
                <a16:creationId xmlns:a16="http://schemas.microsoft.com/office/drawing/2014/main" id="{7EB4DEBB-D0F8-E24F-D914-C0A5B3E3F563}"/>
              </a:ext>
            </a:extLst>
          </p:cNvPr>
          <p:cNvSpPr>
            <a:spLocks noGrp="1"/>
          </p:cNvSpPr>
          <p:nvPr>
            <p:ph type="sldNum" sz="quarter" idx="5"/>
          </p:nvPr>
        </p:nvSpPr>
        <p:spPr/>
        <p:txBody>
          <a:bodyPr/>
          <a:lstStyle/>
          <a:p>
            <a:fld id="{4AED498D-6977-40EC-8E5E-7EB644D5E759}" type="slidenum">
              <a:rPr lang="en-US" noProof="0" smtClean="0"/>
              <a:t>11</a:t>
            </a:fld>
            <a:endParaRPr lang="en-US" noProof="0" dirty="0"/>
          </a:p>
        </p:txBody>
      </p:sp>
    </p:spTree>
    <p:extLst>
      <p:ext uri="{BB962C8B-B14F-4D97-AF65-F5344CB8AC3E}">
        <p14:creationId xmlns:p14="http://schemas.microsoft.com/office/powerpoint/2010/main" val="2562286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kern="1200" dirty="0">
                <a:solidFill>
                  <a:schemeClr val="tx1"/>
                </a:solidFill>
                <a:effectLst/>
                <a:latin typeface="+mn-lt"/>
                <a:ea typeface="+mn-ea"/>
                <a:cs typeface="+mn-cs"/>
              </a:rPr>
              <a:t>SVC scored an overall accuracy of 78%, it showed better performance in stroke detection with a recall of 0.83. </a:t>
            </a:r>
            <a:r>
              <a:rPr lang="en-US" dirty="0"/>
              <a:t>SVC correctly identified 7,082 stroke cases but missed 1,441. It also misclassified 2,257 non-stroke cases.</a:t>
            </a:r>
          </a:p>
        </p:txBody>
      </p:sp>
      <p:sp>
        <p:nvSpPr>
          <p:cNvPr id="4" name="Slide Number Placeholder 3"/>
          <p:cNvSpPr>
            <a:spLocks noGrp="1"/>
          </p:cNvSpPr>
          <p:nvPr>
            <p:ph type="sldNum" sz="quarter" idx="5"/>
          </p:nvPr>
        </p:nvSpPr>
        <p:spPr/>
        <p:txBody>
          <a:bodyPr/>
          <a:lstStyle/>
          <a:p>
            <a:fld id="{4AED498D-6977-40EC-8E5E-7EB644D5E759}" type="slidenum">
              <a:rPr lang="en-US" noProof="0" smtClean="0"/>
              <a:t>12</a:t>
            </a:fld>
            <a:endParaRPr lang="en-US" noProof="0" dirty="0"/>
          </a:p>
        </p:txBody>
      </p:sp>
    </p:spTree>
    <p:extLst>
      <p:ext uri="{BB962C8B-B14F-4D97-AF65-F5344CB8AC3E}">
        <p14:creationId xmlns:p14="http://schemas.microsoft.com/office/powerpoint/2010/main" val="1258159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achieved 93% accuracy and a recall of 0.99 for stroke cases. That means it was extremely sensitive in identifying patients at risk. O</a:t>
            </a:r>
            <a:r>
              <a:rPr lang="en-US" dirty="0"/>
              <a:t>ut of over 17,047 instances, it correctly predicted 8,430 stroke cases with only 93 false negatives. While it misclassified 1,115 non-stroke cases as strokes.</a:t>
            </a:r>
          </a:p>
        </p:txBody>
      </p:sp>
      <p:sp>
        <p:nvSpPr>
          <p:cNvPr id="4" name="Slide Number Placeholder 3"/>
          <p:cNvSpPr>
            <a:spLocks noGrp="1"/>
          </p:cNvSpPr>
          <p:nvPr>
            <p:ph type="sldNum" sz="quarter" idx="5"/>
          </p:nvPr>
        </p:nvSpPr>
        <p:spPr/>
        <p:txBody>
          <a:bodyPr/>
          <a:lstStyle/>
          <a:p>
            <a:fld id="{4AED498D-6977-40EC-8E5E-7EB644D5E759}" type="slidenum">
              <a:rPr lang="en-US" noProof="0" smtClean="0"/>
              <a:t>13</a:t>
            </a:fld>
            <a:endParaRPr lang="en-US" noProof="0" dirty="0"/>
          </a:p>
        </p:txBody>
      </p:sp>
    </p:spTree>
    <p:extLst>
      <p:ext uri="{BB962C8B-B14F-4D97-AF65-F5344CB8AC3E}">
        <p14:creationId xmlns:p14="http://schemas.microsoft.com/office/powerpoint/2010/main" val="3695309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14</a:t>
            </a:fld>
            <a:endParaRPr lang="en-US" noProof="0" dirty="0"/>
          </a:p>
        </p:txBody>
      </p:sp>
    </p:spTree>
    <p:extLst>
      <p:ext uri="{BB962C8B-B14F-4D97-AF65-F5344CB8AC3E}">
        <p14:creationId xmlns:p14="http://schemas.microsoft.com/office/powerpoint/2010/main" val="22235510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80206913-4198-C5BA-6B13-02095EAA2B6F}"/>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F770BC68-C025-CE63-EEBA-5DC7ADC44D91}"/>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2F993316-5D9D-6B5D-B678-3E0B84A3C0D2}"/>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1" name="Text Placeholder 7">
            <a:extLst>
              <a:ext uri="{FF2B5EF4-FFF2-40B4-BE49-F238E27FC236}">
                <a16:creationId xmlns:a16="http://schemas.microsoft.com/office/drawing/2014/main" id="{41C39372-CEC6-2265-7611-84F187C126B1}"/>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2" name="Text Placeholder 12">
            <a:extLst>
              <a:ext uri="{FF2B5EF4-FFF2-40B4-BE49-F238E27FC236}">
                <a16:creationId xmlns:a16="http://schemas.microsoft.com/office/drawing/2014/main" id="{5E13D63F-D0AC-7CD2-770C-6AB09F1BA68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85BF73EF-490D-CA1C-DAD3-BACB141D0988}"/>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B82C914D-7190-2AD0-228B-6DA13843762C}"/>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DAE3299D-125C-8DBC-60F9-82920ADE34EB}"/>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B84261D4-8740-689B-A5CA-C6442BC13E2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7D4393D6-D866-E411-A222-2FE8B99C4D3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30" name="Text Placeholder 12">
            <a:extLst>
              <a:ext uri="{FF2B5EF4-FFF2-40B4-BE49-F238E27FC236}">
                <a16:creationId xmlns:a16="http://schemas.microsoft.com/office/drawing/2014/main" id="{94666BC0-682D-FE04-6EC3-AA81EA3F96FB}"/>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4627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3.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g"/><Relationship Id="rId1" Type="http://schemas.openxmlformats.org/officeDocument/2006/relationships/slideLayout" Target="../slideLayouts/slideLayout12.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3733800" y="188970"/>
            <a:ext cx="8077201" cy="3028852"/>
          </a:xfrm>
        </p:spPr>
        <p:txBody>
          <a:bodyPr>
            <a:normAutofit fontScale="90000"/>
          </a:bodyPr>
          <a:lstStyle/>
          <a:p>
            <a:pPr algn="ctr"/>
            <a:r>
              <a:rPr lang="en-US" b="1" dirty="0">
                <a:solidFill>
                  <a:schemeClr val="tx1">
                    <a:lumMod val="85000"/>
                    <a:lumOff val="15000"/>
                  </a:schemeClr>
                </a:solidFill>
              </a:rPr>
              <a:t>Optimizing Stroke Prediction: Comparative Analysis of Machine Learning Models</a:t>
            </a:r>
          </a:p>
        </p:txBody>
      </p:sp>
      <p:pic>
        <p:nvPicPr>
          <p:cNvPr id="82" name="Picture Placeholder 81" descr="A person standing in a hallway with a computer">
            <a:extLst>
              <a:ext uri="{FF2B5EF4-FFF2-40B4-BE49-F238E27FC236}">
                <a16:creationId xmlns:a16="http://schemas.microsoft.com/office/drawing/2014/main" id="{146F06CC-0FBA-25FB-03E4-AEA27BB636B2}"/>
              </a:ext>
            </a:extLst>
          </p:cNvPr>
          <p:cNvPicPr>
            <a:picLocks noGrp="1" noChangeAspect="1"/>
          </p:cNvPicPr>
          <p:nvPr>
            <p:ph type="pic" sz="quarter" idx="11"/>
          </p:nvPr>
        </p:nvPicPr>
        <p:blipFill>
          <a:blip r:embed="rId3"/>
          <a:srcRect l="1742" r="1742"/>
          <a:stretch/>
        </p:blipFill>
        <p:spPr>
          <a:xfrm>
            <a:off x="70183" y="-4373"/>
            <a:ext cx="4006518" cy="6862275"/>
          </a:xfrm>
        </p:spPr>
      </p:pic>
      <p:sp>
        <p:nvSpPr>
          <p:cNvPr id="7" name="TextBox 6">
            <a:extLst>
              <a:ext uri="{FF2B5EF4-FFF2-40B4-BE49-F238E27FC236}">
                <a16:creationId xmlns:a16="http://schemas.microsoft.com/office/drawing/2014/main" id="{10C52A18-3877-18E6-8DDC-092AE6169046}"/>
              </a:ext>
            </a:extLst>
          </p:cNvPr>
          <p:cNvSpPr txBox="1"/>
          <p:nvPr/>
        </p:nvSpPr>
        <p:spPr>
          <a:xfrm>
            <a:off x="3191385" y="4217677"/>
            <a:ext cx="4252658" cy="2531719"/>
          </a:xfrm>
          <a:prstGeom prst="rect">
            <a:avLst/>
          </a:prstGeom>
          <a:noFill/>
        </p:spPr>
        <p:txBody>
          <a:bodyPr wrap="square">
            <a:spAutoFit/>
          </a:bodyPr>
          <a:lstStyle/>
          <a:p>
            <a:pPr marL="0" marR="0" algn="just">
              <a:lnSpc>
                <a:spcPct val="200000"/>
              </a:lnSpc>
              <a:spcAft>
                <a:spcPts val="800"/>
              </a:spcAft>
              <a:buNone/>
            </a:pP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Agbanu</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Raphael Edem – 22428645</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Agbesi Isaac – 22425055</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Daniel Eshun – 22425980</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Gilbert </a:t>
            </a: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Woasieworm</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Adjei – 22425084</a:t>
            </a:r>
          </a:p>
        </p:txBody>
      </p:sp>
      <p:sp>
        <p:nvSpPr>
          <p:cNvPr id="9" name="TextBox 8">
            <a:extLst>
              <a:ext uri="{FF2B5EF4-FFF2-40B4-BE49-F238E27FC236}">
                <a16:creationId xmlns:a16="http://schemas.microsoft.com/office/drawing/2014/main" id="{4C4D6FBC-9C27-0B44-6618-0CF3E586684E}"/>
              </a:ext>
            </a:extLst>
          </p:cNvPr>
          <p:cNvSpPr txBox="1"/>
          <p:nvPr/>
        </p:nvSpPr>
        <p:spPr>
          <a:xfrm>
            <a:off x="7197384" y="4138016"/>
            <a:ext cx="4994616" cy="2531014"/>
          </a:xfrm>
          <a:prstGeom prst="rect">
            <a:avLst/>
          </a:prstGeom>
          <a:noFill/>
        </p:spPr>
        <p:txBody>
          <a:bodyPr wrap="square">
            <a:spAutoFit/>
          </a:bodyPr>
          <a:lstStyle/>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Michael </a:t>
            </a: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Etornam</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Kojo </a:t>
            </a: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Agbenyegah</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 22425717</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Michael Nimako Frempong – 22425053</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NII </a:t>
            </a: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Obodai</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squire – 22425147</a:t>
            </a:r>
          </a:p>
          <a:p>
            <a:pPr marL="0" marR="0" algn="just">
              <a:lnSpc>
                <a:spcPct val="200000"/>
              </a:lnSpc>
              <a:spcAft>
                <a:spcPts val="800"/>
              </a:spcAft>
              <a:buNone/>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Prince Obeng </a:t>
            </a:r>
            <a:r>
              <a:rPr lang="en-US" sz="1800" b="1" dirty="0" err="1">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Nkoah</a:t>
            </a: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 – 22424742</a:t>
            </a:r>
            <a:endParaRPr lang="en-US" b="1" dirty="0">
              <a:solidFill>
                <a:schemeClr val="tx1">
                  <a:lumMod val="85000"/>
                  <a:lumOff val="15000"/>
                </a:schemeClr>
              </a:solidFill>
            </a:endParaRPr>
          </a:p>
        </p:txBody>
      </p:sp>
      <p:sp>
        <p:nvSpPr>
          <p:cNvPr id="11" name="TextBox 10">
            <a:extLst>
              <a:ext uri="{FF2B5EF4-FFF2-40B4-BE49-F238E27FC236}">
                <a16:creationId xmlns:a16="http://schemas.microsoft.com/office/drawing/2014/main" id="{4B6D47AD-AB9E-00DB-CBC6-A69BCB3ECBD9}"/>
              </a:ext>
            </a:extLst>
          </p:cNvPr>
          <p:cNvSpPr txBox="1"/>
          <p:nvPr/>
        </p:nvSpPr>
        <p:spPr>
          <a:xfrm>
            <a:off x="5562600" y="3297483"/>
            <a:ext cx="3124200" cy="559064"/>
          </a:xfrm>
          <a:prstGeom prst="rect">
            <a:avLst/>
          </a:prstGeom>
          <a:noFill/>
        </p:spPr>
        <p:txBody>
          <a:bodyPr wrap="square">
            <a:spAutoFit/>
          </a:bodyPr>
          <a:lstStyle/>
          <a:p>
            <a:pPr marL="0" marR="0" algn="just">
              <a:lnSpc>
                <a:spcPct val="200000"/>
              </a:lnSpc>
              <a:spcAft>
                <a:spcPts val="800"/>
              </a:spcAft>
              <a:buNone/>
            </a:pPr>
            <a:r>
              <a:rPr lang="en-US" b="1" dirty="0">
                <a:solidFill>
                  <a:schemeClr val="tx1">
                    <a:lumMod val="85000"/>
                    <a:lumOff val="15000"/>
                  </a:schemeClr>
                </a:solidFill>
              </a:rPr>
              <a:t>Group Members</a:t>
            </a:r>
          </a:p>
        </p:txBody>
      </p:sp>
    </p:spTree>
    <p:extLst>
      <p:ext uri="{BB962C8B-B14F-4D97-AF65-F5344CB8AC3E}">
        <p14:creationId xmlns:p14="http://schemas.microsoft.com/office/powerpoint/2010/main" val="350397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409837" y="210993"/>
            <a:ext cx="4786877" cy="582630"/>
          </a:xfrm>
        </p:spPr>
        <p:txBody>
          <a:bodyPr>
            <a:normAutofit fontScale="90000"/>
          </a:bodyPr>
          <a:lstStyle/>
          <a:p>
            <a:r>
              <a:rPr lang="en-US" dirty="0"/>
              <a:t>Outline</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5840730" y="811345"/>
            <a:ext cx="6043188" cy="5460788"/>
          </a:xfrm>
        </p:spPr>
        <p:txBody>
          <a:bodyPr>
            <a:noAutofit/>
          </a:bodyPr>
          <a:lstStyle/>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Background/Problem Statement</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Dataset Overview</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Features in the Dataset</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Handling Imbalance Classes</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Methodology Pipeline</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Models Compared</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Model Performance Matrix</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Logistic Regression</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Random Forest</a:t>
            </a: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Support Vector Classifier (SVC)</a:t>
            </a:r>
          </a:p>
          <a:p>
            <a:pPr marL="342900" indent="-342900">
              <a:lnSpc>
                <a:spcPct val="150000"/>
              </a:lnSpc>
              <a:buFont typeface="Wingdings" panose="05000000000000000000" pitchFamily="2" charset="2"/>
              <a:buChar char="v"/>
            </a:pPr>
            <a:r>
              <a:rPr lang="en-US" sz="2000" dirty="0" err="1">
                <a:latin typeface="Posterama" panose="020B0504020200020000" pitchFamily="34" charset="0"/>
                <a:cs typeface="Posterama" panose="020B0504020200020000" pitchFamily="34" charset="0"/>
              </a:rPr>
              <a:t>XGBoost</a:t>
            </a:r>
            <a:endParaRPr lang="en-US" sz="2000" dirty="0">
              <a:latin typeface="Posterama" panose="020B0504020200020000" pitchFamily="34" charset="0"/>
              <a:cs typeface="Posterama" panose="020B0504020200020000" pitchFamily="34" charset="0"/>
            </a:endParaRPr>
          </a:p>
          <a:p>
            <a:pPr marL="342900" indent="-342900">
              <a:lnSpc>
                <a:spcPct val="150000"/>
              </a:lnSpc>
              <a:buFont typeface="Wingdings" panose="05000000000000000000" pitchFamily="2" charset="2"/>
              <a:buChar char="v"/>
            </a:pPr>
            <a:r>
              <a:rPr lang="en-US" sz="2000" dirty="0">
                <a:latin typeface="Posterama" panose="020B0504020200020000" pitchFamily="34" charset="0"/>
                <a:cs typeface="Posterama" panose="020B0504020200020000" pitchFamily="34" charset="0"/>
              </a:rPr>
              <a:t>Lessons Learned</a:t>
            </a:r>
          </a:p>
        </p:txBody>
      </p:sp>
      <p:pic>
        <p:nvPicPr>
          <p:cNvPr id="11" name="Picture Placeholder 10" descr="A person with his hand on his chin">
            <a:extLst>
              <a:ext uri="{FF2B5EF4-FFF2-40B4-BE49-F238E27FC236}">
                <a16:creationId xmlns:a16="http://schemas.microsoft.com/office/drawing/2014/main" id="{8FB04EF3-CC57-2C94-49E0-6F49EAA52171}"/>
              </a:ext>
            </a:extLst>
          </p:cNvPr>
          <p:cNvPicPr>
            <a:picLocks noGrp="1" noChangeAspect="1"/>
          </p:cNvPicPr>
          <p:nvPr>
            <p:ph type="pic" sz="quarter" idx="11"/>
          </p:nvPr>
        </p:nvPicPr>
        <p:blipFill>
          <a:blip r:embed="rId2"/>
          <a:srcRect l="172" r="172"/>
          <a:stretch/>
        </p:blipFill>
        <p:spPr>
          <a:xfrm>
            <a:off x="0" y="-2235"/>
            <a:ext cx="5840730" cy="6862275"/>
          </a:xfrm>
        </p:spPr>
      </p:pic>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spTree>
    <p:extLst>
      <p:ext uri="{BB962C8B-B14F-4D97-AF65-F5344CB8AC3E}">
        <p14:creationId xmlns:p14="http://schemas.microsoft.com/office/powerpoint/2010/main" val="46347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3</a:t>
            </a:fld>
            <a:endParaRPr lang="en-US" dirty="0"/>
          </a:p>
        </p:txBody>
      </p:sp>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463135" y="354397"/>
            <a:ext cx="8572267" cy="848761"/>
          </a:xfrm>
        </p:spPr>
        <p:txBody>
          <a:bodyPr>
            <a:noAutofit/>
          </a:bodyPr>
          <a:lstStyle/>
          <a:p>
            <a:r>
              <a:rPr lang="en-US" dirty="0"/>
              <a:t>Background/Problem Statement</a:t>
            </a:r>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3">
            <a:extLst>
              <a:ext uri="{FF2B5EF4-FFF2-40B4-BE49-F238E27FC236}">
                <a16:creationId xmlns:a16="http://schemas.microsoft.com/office/drawing/2014/main" id="{B187760D-6399-9C33-4CD5-9488777BCEBF}"/>
              </a:ext>
            </a:extLst>
          </p:cNvPr>
          <p:cNvPicPr>
            <a:picLocks noGrp="1"/>
          </p:cNvPicPr>
          <p:nvPr>
            <p:ph type="pic" sz="quarter" idx="11"/>
          </p:nvPr>
        </p:nvPicPr>
        <p:blipFill>
          <a:blip r:embed="rId5" cstate="print"/>
          <a:srcRect l="6821" r="6821"/>
          <a:stretch>
            <a:fillRect/>
          </a:stretch>
        </p:blipFill>
        <p:spPr>
          <a:xfrm>
            <a:off x="9169549" y="0"/>
            <a:ext cx="3022451" cy="6655899"/>
          </a:xfrm>
          <a:prstGeom prst="rect">
            <a:avLst/>
          </a:prstGeom>
        </p:spPr>
      </p:pic>
      <p:sp>
        <p:nvSpPr>
          <p:cNvPr id="38" name="Text Placeholder 37">
            <a:extLst>
              <a:ext uri="{FF2B5EF4-FFF2-40B4-BE49-F238E27FC236}">
                <a16:creationId xmlns:a16="http://schemas.microsoft.com/office/drawing/2014/main" id="{3C28888C-95F0-E3DF-2E07-074627567FC1}"/>
              </a:ext>
            </a:extLst>
          </p:cNvPr>
          <p:cNvSpPr>
            <a:spLocks noGrp="1"/>
          </p:cNvSpPr>
          <p:nvPr>
            <p:ph type="body" sz="quarter" idx="18"/>
          </p:nvPr>
        </p:nvSpPr>
        <p:spPr>
          <a:xfrm>
            <a:off x="403382" y="1444263"/>
            <a:ext cx="8766167" cy="3969474"/>
          </a:xfrm>
        </p:spPr>
        <p:txBody>
          <a:bodyPr>
            <a:normAutofit/>
          </a:bodyPr>
          <a:lstStyle/>
          <a:p>
            <a:pPr marL="342900" indent="-342900" algn="just">
              <a:lnSpc>
                <a:spcPct val="150000"/>
              </a:lnSpc>
              <a:buFont typeface="Wingdings" panose="05000000000000000000" pitchFamily="2" charset="2"/>
              <a:buChar char="v"/>
            </a:pPr>
            <a:r>
              <a:rPr lang="en-US" dirty="0">
                <a:solidFill>
                  <a:srgbClr val="0D0D0D"/>
                </a:solidFill>
                <a:latin typeface="Posterama (Headings)"/>
              </a:rPr>
              <a:t>Stroke is a major cause of death and disability globally.</a:t>
            </a:r>
          </a:p>
          <a:p>
            <a:pPr marL="342900" indent="-342900" algn="just">
              <a:lnSpc>
                <a:spcPct val="150000"/>
              </a:lnSpc>
              <a:buFont typeface="Wingdings" panose="05000000000000000000" pitchFamily="2" charset="2"/>
              <a:buChar char="v"/>
            </a:pPr>
            <a:r>
              <a:rPr lang="en-US" dirty="0">
                <a:solidFill>
                  <a:srgbClr val="0D0D0D"/>
                </a:solidFill>
                <a:latin typeface="Posterama (Headings)"/>
              </a:rPr>
              <a:t>Early detection is critical for timely intervention.</a:t>
            </a:r>
          </a:p>
          <a:p>
            <a:pPr marL="342900" indent="-342900" algn="just">
              <a:lnSpc>
                <a:spcPct val="150000"/>
              </a:lnSpc>
              <a:buFont typeface="Wingdings" panose="05000000000000000000" pitchFamily="2" charset="2"/>
              <a:buChar char="v"/>
            </a:pPr>
            <a:r>
              <a:rPr lang="en-US" dirty="0">
                <a:solidFill>
                  <a:srgbClr val="0D0D0D"/>
                </a:solidFill>
                <a:latin typeface="Posterama (Headings)"/>
              </a:rPr>
              <a:t>Traditional models (e.g., regression) fail to capture complex patterns and in modeling nonlinear and multifactorial causes.</a:t>
            </a:r>
          </a:p>
          <a:p>
            <a:pPr marL="342900" indent="-342900" algn="just">
              <a:lnSpc>
                <a:spcPct val="150000"/>
              </a:lnSpc>
              <a:buFont typeface="Wingdings" panose="05000000000000000000" pitchFamily="2" charset="2"/>
              <a:buChar char="v"/>
            </a:pPr>
            <a:r>
              <a:rPr lang="en-US" dirty="0">
                <a:solidFill>
                  <a:srgbClr val="0D0D0D"/>
                </a:solidFill>
                <a:latin typeface="Posterama (Headings)"/>
              </a:rPr>
              <a:t>The goal is to compare ML models to improve stroke prediction accuracy </a:t>
            </a:r>
          </a:p>
          <a:p>
            <a:endParaRPr lang="en-US" dirty="0"/>
          </a:p>
        </p:txBody>
      </p:sp>
    </p:spTree>
    <p:extLst>
      <p:ext uri="{BB962C8B-B14F-4D97-AF65-F5344CB8AC3E}">
        <p14:creationId xmlns:p14="http://schemas.microsoft.com/office/powerpoint/2010/main" val="4255973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468D1-2C4D-A441-F485-B7FF19CAA483}"/>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CC851FA3-6C9E-2FAF-AAF8-0213A85BCD4C}"/>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4</a:t>
            </a:fld>
            <a:endParaRPr lang="en-US" dirty="0"/>
          </a:p>
        </p:txBody>
      </p:sp>
      <p:sp>
        <p:nvSpPr>
          <p:cNvPr id="3" name="Title 2">
            <a:extLst>
              <a:ext uri="{FF2B5EF4-FFF2-40B4-BE49-F238E27FC236}">
                <a16:creationId xmlns:a16="http://schemas.microsoft.com/office/drawing/2014/main" id="{43718D0E-8474-205A-D024-68812DCE0F4F}"/>
              </a:ext>
            </a:extLst>
          </p:cNvPr>
          <p:cNvSpPr>
            <a:spLocks noGrp="1"/>
          </p:cNvSpPr>
          <p:nvPr>
            <p:ph type="ctrTitle"/>
          </p:nvPr>
        </p:nvSpPr>
        <p:spPr>
          <a:xfrm>
            <a:off x="796322" y="320040"/>
            <a:ext cx="6732237" cy="1017147"/>
          </a:xfrm>
        </p:spPr>
        <p:txBody>
          <a:bodyPr>
            <a:noAutofit/>
          </a:bodyPr>
          <a:lstStyle/>
          <a:p>
            <a:r>
              <a:rPr lang="en-US" dirty="0"/>
              <a:t>Dataset Overview</a:t>
            </a:r>
          </a:p>
        </p:txBody>
      </p:sp>
      <p:grpSp>
        <p:nvGrpSpPr>
          <p:cNvPr id="17" name="Group 16">
            <a:extLst>
              <a:ext uri="{FF2B5EF4-FFF2-40B4-BE49-F238E27FC236}">
                <a16:creationId xmlns:a16="http://schemas.microsoft.com/office/drawing/2014/main" id="{973946AA-50FE-D1F4-CDCB-89B1ED72B54A}"/>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D7249B80-1D05-BE50-F27D-54438B23EC2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047F0B0B-B800-3B5F-B668-66819E136AFA}"/>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2">
            <a:extLst>
              <a:ext uri="{FF2B5EF4-FFF2-40B4-BE49-F238E27FC236}">
                <a16:creationId xmlns:a16="http://schemas.microsoft.com/office/drawing/2014/main" id="{7BB515E9-312A-E588-EBA2-6D586E66E318}"/>
              </a:ext>
            </a:extLst>
          </p:cNvPr>
          <p:cNvPicPr>
            <a:picLocks noGrp="1"/>
          </p:cNvPicPr>
          <p:nvPr>
            <p:ph type="pic" sz="quarter" idx="11"/>
          </p:nvPr>
        </p:nvPicPr>
        <p:blipFill>
          <a:blip r:embed="rId5" cstate="print"/>
          <a:srcRect l="18961" r="18961"/>
          <a:stretch>
            <a:fillRect/>
          </a:stretch>
        </p:blipFill>
        <p:spPr>
          <a:xfrm>
            <a:off x="9352547" y="0"/>
            <a:ext cx="2688916" cy="6858000"/>
          </a:xfrm>
          <a:prstGeom prst="rect">
            <a:avLst/>
          </a:prstGeom>
        </p:spPr>
      </p:pic>
      <p:sp>
        <p:nvSpPr>
          <p:cNvPr id="40" name="TextBox 39">
            <a:extLst>
              <a:ext uri="{FF2B5EF4-FFF2-40B4-BE49-F238E27FC236}">
                <a16:creationId xmlns:a16="http://schemas.microsoft.com/office/drawing/2014/main" id="{6957D261-24DC-F7DC-3EB8-0657E4AFF312}"/>
              </a:ext>
            </a:extLst>
          </p:cNvPr>
          <p:cNvSpPr txBox="1"/>
          <p:nvPr/>
        </p:nvSpPr>
        <p:spPr>
          <a:xfrm>
            <a:off x="558147" y="1682400"/>
            <a:ext cx="8149389" cy="4108753"/>
          </a:xfrm>
          <a:prstGeom prst="rect">
            <a:avLst/>
          </a:prstGeom>
          <a:noFill/>
        </p:spPr>
        <p:txBody>
          <a:bodyPr wrap="square">
            <a:spAutoFit/>
          </a:bodyPr>
          <a:lstStyle/>
          <a:p>
            <a:pPr marL="342900" marR="0" lvl="0" indent="-342900" algn="l">
              <a:lnSpc>
                <a:spcPct val="200000"/>
              </a:lnSpc>
              <a:spcAft>
                <a:spcPts val="800"/>
              </a:spcAft>
              <a:buClr>
                <a:schemeClr val="accent1"/>
              </a:buClr>
              <a:buSzPct val="100000"/>
              <a:buFont typeface="Wingdings" panose="05000000000000000000" pitchFamily="2" charset="2"/>
              <a:buChar char="v"/>
              <a:tabLst>
                <a:tab pos="457200" algn="l"/>
              </a:tabLst>
            </a:pPr>
            <a:r>
              <a:rPr lang="en-US" sz="2000" b="1" dirty="0">
                <a:effectLst/>
                <a:latin typeface="Posterama (Headings)"/>
                <a:ea typeface="Times New Roman" panose="02020603050405020304" pitchFamily="18" charset="0"/>
                <a:cs typeface="Times New Roman" panose="02020603050405020304" pitchFamily="18" charset="0"/>
              </a:rPr>
              <a:t>Source</a:t>
            </a:r>
            <a:r>
              <a:rPr lang="en-US" sz="2000" dirty="0">
                <a:effectLst/>
                <a:latin typeface="Posterama (Headings)"/>
                <a:ea typeface="Times New Roman" panose="02020603050405020304" pitchFamily="18" charset="0"/>
                <a:cs typeface="Times New Roman" panose="02020603050405020304" pitchFamily="18" charset="0"/>
              </a:rPr>
              <a:t>: Kaggle stroke prediction dataset</a:t>
            </a:r>
            <a:endParaRPr lang="en-US" sz="2000" dirty="0">
              <a:effectLst/>
              <a:latin typeface="Posterama (Headings)"/>
              <a:ea typeface="Calibri" panose="020F0502020204030204" pitchFamily="34" charset="0"/>
              <a:cs typeface="Times New Roman" panose="02020603050405020304" pitchFamily="18" charset="0"/>
            </a:endParaRPr>
          </a:p>
          <a:p>
            <a:pPr marL="342900" marR="0" lvl="0" indent="-342900" algn="l">
              <a:lnSpc>
                <a:spcPct val="200000"/>
              </a:lnSpc>
              <a:spcAft>
                <a:spcPts val="800"/>
              </a:spcAft>
              <a:buClr>
                <a:schemeClr val="accent1"/>
              </a:buClr>
              <a:buSzPct val="100000"/>
              <a:buFont typeface="Wingdings" panose="05000000000000000000" pitchFamily="2" charset="2"/>
              <a:buChar char="v"/>
              <a:tabLst>
                <a:tab pos="457200" algn="l"/>
              </a:tabLst>
            </a:pPr>
            <a:r>
              <a:rPr lang="en-US" sz="2000" b="1" dirty="0">
                <a:effectLst/>
                <a:latin typeface="Posterama (Headings)"/>
                <a:ea typeface="Times New Roman" panose="02020603050405020304" pitchFamily="18" charset="0"/>
                <a:cs typeface="Times New Roman" panose="02020603050405020304" pitchFamily="18" charset="0"/>
              </a:rPr>
              <a:t>Samples</a:t>
            </a:r>
            <a:r>
              <a:rPr lang="en-US" sz="2000" dirty="0">
                <a:effectLst/>
                <a:latin typeface="Posterama (Headings)"/>
                <a:ea typeface="Times New Roman" panose="02020603050405020304" pitchFamily="18" charset="0"/>
                <a:cs typeface="Times New Roman" panose="02020603050405020304" pitchFamily="18" charset="0"/>
              </a:rPr>
              <a:t>: ~17,047</a:t>
            </a:r>
            <a:endParaRPr lang="en-US" sz="2000" dirty="0">
              <a:effectLst/>
              <a:latin typeface="Posterama (Headings)"/>
              <a:ea typeface="Calibri" panose="020F0502020204030204" pitchFamily="34" charset="0"/>
              <a:cs typeface="Times New Roman" panose="02020603050405020304" pitchFamily="18" charset="0"/>
            </a:endParaRPr>
          </a:p>
          <a:p>
            <a:pPr marL="342900" marR="0" lvl="0" indent="-342900" algn="l">
              <a:lnSpc>
                <a:spcPct val="200000"/>
              </a:lnSpc>
              <a:spcAft>
                <a:spcPts val="800"/>
              </a:spcAft>
              <a:buClr>
                <a:schemeClr val="accent1"/>
              </a:buClr>
              <a:buSzPct val="100000"/>
              <a:buFont typeface="Wingdings" panose="05000000000000000000" pitchFamily="2" charset="2"/>
              <a:buChar char="v"/>
              <a:tabLst>
                <a:tab pos="457200" algn="l"/>
              </a:tabLst>
            </a:pPr>
            <a:r>
              <a:rPr lang="en-US" sz="2000" b="1" dirty="0">
                <a:effectLst/>
                <a:latin typeface="Posterama (Headings)"/>
                <a:ea typeface="Times New Roman" panose="02020603050405020304" pitchFamily="18" charset="0"/>
                <a:cs typeface="Times New Roman" panose="02020603050405020304" pitchFamily="18" charset="0"/>
              </a:rPr>
              <a:t>Features</a:t>
            </a:r>
            <a:r>
              <a:rPr lang="en-US" sz="2000" dirty="0">
                <a:effectLst/>
                <a:latin typeface="Posterama (Headings)"/>
                <a:ea typeface="Times New Roman" panose="02020603050405020304" pitchFamily="18" charset="0"/>
                <a:cs typeface="Times New Roman" panose="02020603050405020304" pitchFamily="18" charset="0"/>
              </a:rPr>
              <a:t>: 11 (age, hypertension, heart disease, etc.)</a:t>
            </a:r>
            <a:endParaRPr lang="en-US" sz="2000" dirty="0">
              <a:effectLst/>
              <a:latin typeface="Posterama (Headings)"/>
              <a:ea typeface="Calibri" panose="020F0502020204030204" pitchFamily="34" charset="0"/>
              <a:cs typeface="Times New Roman" panose="02020603050405020304" pitchFamily="18" charset="0"/>
            </a:endParaRPr>
          </a:p>
          <a:p>
            <a:pPr marL="342900" marR="0" lvl="0" indent="-342900" algn="l">
              <a:lnSpc>
                <a:spcPct val="200000"/>
              </a:lnSpc>
              <a:spcAft>
                <a:spcPts val="800"/>
              </a:spcAft>
              <a:buClr>
                <a:schemeClr val="accent1"/>
              </a:buClr>
              <a:buSzPct val="100000"/>
              <a:buFont typeface="Wingdings" panose="05000000000000000000" pitchFamily="2" charset="2"/>
              <a:buChar char="v"/>
              <a:tabLst>
                <a:tab pos="457200" algn="l"/>
              </a:tabLst>
            </a:pPr>
            <a:r>
              <a:rPr lang="en-US" sz="2000" b="1" dirty="0">
                <a:effectLst/>
                <a:latin typeface="Posterama (Headings)"/>
                <a:ea typeface="Times New Roman" panose="02020603050405020304" pitchFamily="18" charset="0"/>
                <a:cs typeface="Times New Roman" panose="02020603050405020304" pitchFamily="18" charset="0"/>
              </a:rPr>
              <a:t>Target</a:t>
            </a:r>
            <a:r>
              <a:rPr lang="en-US" sz="2000" dirty="0">
                <a:effectLst/>
                <a:latin typeface="Posterama (Headings)"/>
                <a:ea typeface="Times New Roman" panose="02020603050405020304" pitchFamily="18" charset="0"/>
                <a:cs typeface="Times New Roman" panose="02020603050405020304" pitchFamily="18" charset="0"/>
              </a:rPr>
              <a:t>: Binary (Stroke: Yes/No)</a:t>
            </a:r>
            <a:endParaRPr lang="en-US" sz="2000" dirty="0">
              <a:effectLst/>
              <a:latin typeface="Posterama (Headings)"/>
              <a:ea typeface="Calibri" panose="020F0502020204030204" pitchFamily="34" charset="0"/>
              <a:cs typeface="Times New Roman" panose="02020603050405020304" pitchFamily="18" charset="0"/>
            </a:endParaRPr>
          </a:p>
          <a:p>
            <a:pPr marL="342900" marR="0" lvl="0" indent="-342900" algn="l">
              <a:lnSpc>
                <a:spcPct val="200000"/>
              </a:lnSpc>
              <a:spcAft>
                <a:spcPts val="800"/>
              </a:spcAft>
              <a:buClr>
                <a:schemeClr val="accent1"/>
              </a:buClr>
              <a:buSzPct val="100000"/>
              <a:buFont typeface="Wingdings" panose="05000000000000000000" pitchFamily="2" charset="2"/>
              <a:buChar char="v"/>
              <a:tabLst>
                <a:tab pos="457200" algn="l"/>
              </a:tabLst>
            </a:pPr>
            <a:r>
              <a:rPr lang="en-US" sz="2000" dirty="0">
                <a:effectLst/>
                <a:latin typeface="Posterama (Headings)"/>
                <a:ea typeface="Times New Roman" panose="02020603050405020304" pitchFamily="18" charset="0"/>
                <a:cs typeface="Times New Roman" panose="02020603050405020304" pitchFamily="18" charset="0"/>
              </a:rPr>
              <a:t>The </a:t>
            </a:r>
            <a:r>
              <a:rPr lang="en-US" sz="2000" dirty="0">
                <a:latin typeface="Posterama (Headings)"/>
                <a:ea typeface="Times New Roman" panose="02020603050405020304" pitchFamily="18" charset="0"/>
                <a:cs typeface="Times New Roman" panose="02020603050405020304" pitchFamily="18" charset="0"/>
              </a:rPr>
              <a:t>dataset consist of m</a:t>
            </a:r>
            <a:r>
              <a:rPr lang="en-US" sz="2000" dirty="0">
                <a:effectLst/>
                <a:latin typeface="Posterama (Headings)"/>
                <a:ea typeface="Times New Roman" panose="02020603050405020304" pitchFamily="18" charset="0"/>
                <a:cs typeface="Times New Roman" panose="02020603050405020304" pitchFamily="18" charset="0"/>
              </a:rPr>
              <a:t>ix of numerical, categorical, binary features</a:t>
            </a:r>
            <a:endParaRPr lang="en-US" sz="2000" dirty="0">
              <a:effectLst/>
              <a:latin typeface="Posterama (Headings)"/>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6201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0052-0D04-3285-87E9-C87C342F75DD}"/>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0961757F-29D1-614D-DC1F-1CFBCD405CB2}"/>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5</a:t>
            </a:fld>
            <a:endParaRPr lang="en-US" dirty="0"/>
          </a:p>
        </p:txBody>
      </p:sp>
      <p:sp>
        <p:nvSpPr>
          <p:cNvPr id="3" name="Title 2">
            <a:extLst>
              <a:ext uri="{FF2B5EF4-FFF2-40B4-BE49-F238E27FC236}">
                <a16:creationId xmlns:a16="http://schemas.microsoft.com/office/drawing/2014/main" id="{386D99DE-7ADC-398E-CEE6-3C439061317C}"/>
              </a:ext>
            </a:extLst>
          </p:cNvPr>
          <p:cNvSpPr>
            <a:spLocks noGrp="1"/>
          </p:cNvSpPr>
          <p:nvPr>
            <p:ph type="ctrTitle"/>
          </p:nvPr>
        </p:nvSpPr>
        <p:spPr>
          <a:xfrm>
            <a:off x="463135" y="354397"/>
            <a:ext cx="8572267" cy="848761"/>
          </a:xfrm>
        </p:spPr>
        <p:txBody>
          <a:bodyPr>
            <a:noAutofit/>
          </a:bodyPr>
          <a:lstStyle/>
          <a:p>
            <a:r>
              <a:rPr lang="en-US" dirty="0"/>
              <a:t>Features in the Dataset</a:t>
            </a:r>
          </a:p>
        </p:txBody>
      </p:sp>
      <p:grpSp>
        <p:nvGrpSpPr>
          <p:cNvPr id="17" name="Group 16">
            <a:extLst>
              <a:ext uri="{FF2B5EF4-FFF2-40B4-BE49-F238E27FC236}">
                <a16:creationId xmlns:a16="http://schemas.microsoft.com/office/drawing/2014/main" id="{8EAE2864-1AA9-17C6-E70B-60C23CBC0989}"/>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5888D1ED-8D95-2603-B580-FA87DA89674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C9380FB0-29ED-A3A1-5DCF-4CE68B38BEE6}"/>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3">
            <a:extLst>
              <a:ext uri="{FF2B5EF4-FFF2-40B4-BE49-F238E27FC236}">
                <a16:creationId xmlns:a16="http://schemas.microsoft.com/office/drawing/2014/main" id="{FD448602-C41E-08B0-D72D-5A567ECCA372}"/>
              </a:ext>
            </a:extLst>
          </p:cNvPr>
          <p:cNvPicPr>
            <a:picLocks noGrp="1"/>
          </p:cNvPicPr>
          <p:nvPr>
            <p:ph type="pic" sz="quarter" idx="11"/>
          </p:nvPr>
        </p:nvPicPr>
        <p:blipFill>
          <a:blip r:embed="rId5" cstate="print"/>
          <a:srcRect l="6821" r="6821"/>
          <a:stretch>
            <a:fillRect/>
          </a:stretch>
        </p:blipFill>
        <p:spPr>
          <a:xfrm>
            <a:off x="9166375" y="0"/>
            <a:ext cx="3025626" cy="6655899"/>
          </a:xfrm>
          <a:prstGeom prst="rect">
            <a:avLst/>
          </a:prstGeom>
        </p:spPr>
      </p:pic>
      <p:pic>
        <p:nvPicPr>
          <p:cNvPr id="6" name="Picture 5">
            <a:extLst>
              <a:ext uri="{FF2B5EF4-FFF2-40B4-BE49-F238E27FC236}">
                <a16:creationId xmlns:a16="http://schemas.microsoft.com/office/drawing/2014/main" id="{BDA48A70-6892-4AF2-490D-546F9DCA3F7E}"/>
              </a:ext>
            </a:extLst>
          </p:cNvPr>
          <p:cNvPicPr>
            <a:picLocks noChangeAspect="1"/>
          </p:cNvPicPr>
          <p:nvPr/>
        </p:nvPicPr>
        <p:blipFill>
          <a:blip r:embed="rId6"/>
          <a:stretch>
            <a:fillRect/>
          </a:stretch>
        </p:blipFill>
        <p:spPr>
          <a:xfrm>
            <a:off x="499285" y="1385720"/>
            <a:ext cx="8371999" cy="5087616"/>
          </a:xfrm>
          <a:prstGeom prst="rect">
            <a:avLst/>
          </a:prstGeom>
        </p:spPr>
      </p:pic>
    </p:spTree>
    <p:extLst>
      <p:ext uri="{BB962C8B-B14F-4D97-AF65-F5344CB8AC3E}">
        <p14:creationId xmlns:p14="http://schemas.microsoft.com/office/powerpoint/2010/main" val="1798978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56740-E25F-F41F-46EB-92FDF86F7FA1}"/>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43CC837E-1F73-C6F9-F3C4-5F10A7A326C3}"/>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6</a:t>
            </a:fld>
            <a:endParaRPr lang="en-US" dirty="0"/>
          </a:p>
        </p:txBody>
      </p:sp>
      <p:sp>
        <p:nvSpPr>
          <p:cNvPr id="3" name="Title 2">
            <a:extLst>
              <a:ext uri="{FF2B5EF4-FFF2-40B4-BE49-F238E27FC236}">
                <a16:creationId xmlns:a16="http://schemas.microsoft.com/office/drawing/2014/main" id="{6822931D-5DF0-1EB6-0233-A1E28C00D577}"/>
              </a:ext>
            </a:extLst>
          </p:cNvPr>
          <p:cNvSpPr>
            <a:spLocks noGrp="1"/>
          </p:cNvSpPr>
          <p:nvPr>
            <p:ph type="ctrTitle"/>
          </p:nvPr>
        </p:nvSpPr>
        <p:spPr>
          <a:xfrm>
            <a:off x="463135" y="354397"/>
            <a:ext cx="6907229" cy="848761"/>
          </a:xfrm>
        </p:spPr>
        <p:txBody>
          <a:bodyPr>
            <a:noAutofit/>
          </a:bodyPr>
          <a:lstStyle/>
          <a:p>
            <a:r>
              <a:rPr lang="en-US" dirty="0"/>
              <a:t>Handling Imbalance Classes</a:t>
            </a:r>
          </a:p>
        </p:txBody>
      </p:sp>
      <p:grpSp>
        <p:nvGrpSpPr>
          <p:cNvPr id="17" name="Group 16">
            <a:extLst>
              <a:ext uri="{FF2B5EF4-FFF2-40B4-BE49-F238E27FC236}">
                <a16:creationId xmlns:a16="http://schemas.microsoft.com/office/drawing/2014/main" id="{BB29C7C5-D996-7682-0A9C-06716BE012F9}"/>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970ECAF5-7851-040B-E59F-78223205FD4C}"/>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B80E3DCE-4A02-D38D-4EDA-09F90E6481CA}"/>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3">
            <a:extLst>
              <a:ext uri="{FF2B5EF4-FFF2-40B4-BE49-F238E27FC236}">
                <a16:creationId xmlns:a16="http://schemas.microsoft.com/office/drawing/2014/main" id="{A36CA683-9380-6A13-866A-5AF9F7F74F90}"/>
              </a:ext>
            </a:extLst>
          </p:cNvPr>
          <p:cNvPicPr>
            <a:picLocks noGrp="1"/>
          </p:cNvPicPr>
          <p:nvPr>
            <p:ph type="pic" sz="quarter" idx="11"/>
          </p:nvPr>
        </p:nvPicPr>
        <p:blipFill>
          <a:blip r:embed="rId5" cstate="print"/>
          <a:srcRect l="6821" r="6821"/>
          <a:stretch>
            <a:fillRect/>
          </a:stretch>
        </p:blipFill>
        <p:spPr>
          <a:xfrm>
            <a:off x="9166375" y="0"/>
            <a:ext cx="3025626" cy="6655899"/>
          </a:xfrm>
          <a:prstGeom prst="rect">
            <a:avLst/>
          </a:prstGeom>
        </p:spPr>
      </p:pic>
      <p:sp>
        <p:nvSpPr>
          <p:cNvPr id="4" name="TextBox 3">
            <a:extLst>
              <a:ext uri="{FF2B5EF4-FFF2-40B4-BE49-F238E27FC236}">
                <a16:creationId xmlns:a16="http://schemas.microsoft.com/office/drawing/2014/main" id="{D6C20EC0-FFB9-B579-FBC6-2160E85E9E80}"/>
              </a:ext>
            </a:extLst>
          </p:cNvPr>
          <p:cNvSpPr txBox="1"/>
          <p:nvPr/>
        </p:nvSpPr>
        <p:spPr>
          <a:xfrm>
            <a:off x="556209" y="1581094"/>
            <a:ext cx="8530856" cy="4727448"/>
          </a:xfrm>
          <a:prstGeom prst="rect">
            <a:avLst/>
          </a:prstGeom>
          <a:noFill/>
        </p:spPr>
        <p:txBody>
          <a:bodyPr wrap="square">
            <a:spAutoFit/>
          </a:bodyPr>
          <a:lstStyle/>
          <a:p>
            <a:pPr marL="342900" marR="0" indent="-342900" algn="just">
              <a:lnSpc>
                <a:spcPct val="200000"/>
              </a:lnSpc>
              <a:spcAft>
                <a:spcPts val="800"/>
              </a:spcAft>
              <a:buClr>
                <a:schemeClr val="accent1"/>
              </a:buClr>
              <a:buFont typeface="Wingdings" panose="05000000000000000000" pitchFamily="2" charset="2"/>
              <a:buChar char="v"/>
            </a:pPr>
            <a:r>
              <a:rPr lang="en-US" sz="2400" dirty="0">
                <a:effectLst/>
                <a:latin typeface="Posterama (Headings)"/>
                <a:ea typeface="Calibri" panose="020F0502020204030204" pitchFamily="34" charset="0"/>
                <a:cs typeface="Times New Roman" panose="02020603050405020304" pitchFamily="18" charset="0"/>
              </a:rPr>
              <a:t>Stroke (class 1) is underrepresented.</a:t>
            </a:r>
          </a:p>
          <a:p>
            <a:pPr marL="342900" marR="0" indent="-342900" algn="just">
              <a:lnSpc>
                <a:spcPct val="200000"/>
              </a:lnSpc>
              <a:spcAft>
                <a:spcPts val="800"/>
              </a:spcAft>
              <a:buClr>
                <a:schemeClr val="accent1"/>
              </a:buClr>
              <a:buFont typeface="Wingdings" panose="05000000000000000000" pitchFamily="2" charset="2"/>
              <a:buChar char="v"/>
            </a:pPr>
            <a:r>
              <a:rPr lang="en-US" sz="2400" dirty="0">
                <a:effectLst/>
                <a:latin typeface="Posterama (Headings)"/>
                <a:ea typeface="Calibri" panose="020F0502020204030204" pitchFamily="34" charset="0"/>
                <a:cs typeface="Times New Roman" panose="02020603050405020304" pitchFamily="18" charset="0"/>
              </a:rPr>
              <a:t>Reflects real-world prevalence (~5%)</a:t>
            </a:r>
          </a:p>
          <a:p>
            <a:pPr marL="342900" marR="0" indent="-342900" algn="just">
              <a:lnSpc>
                <a:spcPct val="200000"/>
              </a:lnSpc>
              <a:spcAft>
                <a:spcPts val="800"/>
              </a:spcAft>
              <a:buClr>
                <a:schemeClr val="accent1"/>
              </a:buClr>
              <a:buFont typeface="Wingdings" panose="05000000000000000000" pitchFamily="2" charset="2"/>
              <a:buChar char="v"/>
            </a:pPr>
            <a:r>
              <a:rPr lang="en-US" sz="2400" dirty="0">
                <a:solidFill>
                  <a:srgbClr val="0D0D0D"/>
                </a:solidFill>
                <a:effectLst/>
                <a:latin typeface="Posterama (Headings)"/>
                <a:ea typeface="Calibri" panose="020F0502020204030204" pitchFamily="34" charset="0"/>
                <a:cs typeface="Times New Roman" panose="02020603050405020304" pitchFamily="18" charset="0"/>
              </a:rPr>
              <a:t>Imbalance impacts model learning and evaluation metrics.</a:t>
            </a:r>
          </a:p>
          <a:p>
            <a:pPr marL="342900" indent="-342900" algn="just">
              <a:lnSpc>
                <a:spcPct val="200000"/>
              </a:lnSpc>
              <a:spcAft>
                <a:spcPts val="800"/>
              </a:spcAft>
              <a:buClr>
                <a:schemeClr val="accent1"/>
              </a:buClr>
              <a:buFont typeface="Wingdings" panose="05000000000000000000" pitchFamily="2" charset="2"/>
              <a:buChar char="v"/>
            </a:pPr>
            <a:r>
              <a:rPr lang="en-US" sz="2400" dirty="0">
                <a:solidFill>
                  <a:srgbClr val="0D0D0D"/>
                </a:solidFill>
                <a:latin typeface="Posterama (Headings)"/>
                <a:ea typeface="Calibri" panose="020F0502020204030204" pitchFamily="34" charset="0"/>
                <a:cs typeface="Times New Roman" panose="02020603050405020304" pitchFamily="18" charset="0"/>
              </a:rPr>
              <a:t>Imbalance was a</a:t>
            </a:r>
            <a:r>
              <a:rPr lang="en-US" sz="2400" dirty="0">
                <a:solidFill>
                  <a:srgbClr val="0D0D0D"/>
                </a:solidFill>
                <a:effectLst/>
                <a:latin typeface="Posterama (Headings)"/>
                <a:ea typeface="Calibri" panose="020F0502020204030204" pitchFamily="34" charset="0"/>
                <a:cs typeface="Times New Roman" panose="02020603050405020304" pitchFamily="18" charset="0"/>
              </a:rPr>
              <a:t>ddressed using random oversampling technique</a:t>
            </a:r>
          </a:p>
        </p:txBody>
      </p:sp>
    </p:spTree>
    <p:extLst>
      <p:ext uri="{BB962C8B-B14F-4D97-AF65-F5344CB8AC3E}">
        <p14:creationId xmlns:p14="http://schemas.microsoft.com/office/powerpoint/2010/main" val="302758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6C051-495F-B6AA-E779-E1EBFF1052C6}"/>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643EADF2-96EC-D955-D38A-833E336D443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7</a:t>
            </a:fld>
            <a:endParaRPr lang="en-US" dirty="0"/>
          </a:p>
        </p:txBody>
      </p:sp>
      <p:sp>
        <p:nvSpPr>
          <p:cNvPr id="3" name="Title 2">
            <a:extLst>
              <a:ext uri="{FF2B5EF4-FFF2-40B4-BE49-F238E27FC236}">
                <a16:creationId xmlns:a16="http://schemas.microsoft.com/office/drawing/2014/main" id="{6C18E0B3-F102-7154-0EAA-B4960854DEEA}"/>
              </a:ext>
            </a:extLst>
          </p:cNvPr>
          <p:cNvSpPr>
            <a:spLocks noGrp="1"/>
          </p:cNvSpPr>
          <p:nvPr>
            <p:ph type="ctrTitle"/>
          </p:nvPr>
        </p:nvSpPr>
        <p:spPr>
          <a:xfrm>
            <a:off x="796322" y="320040"/>
            <a:ext cx="6732237" cy="1017147"/>
          </a:xfrm>
        </p:spPr>
        <p:txBody>
          <a:bodyPr>
            <a:noAutofit/>
          </a:bodyPr>
          <a:lstStyle/>
          <a:p>
            <a:r>
              <a:rPr lang="en-US" dirty="0"/>
              <a:t>Methodology Pipeline</a:t>
            </a:r>
          </a:p>
        </p:txBody>
      </p:sp>
      <p:grpSp>
        <p:nvGrpSpPr>
          <p:cNvPr id="17" name="Group 16">
            <a:extLst>
              <a:ext uri="{FF2B5EF4-FFF2-40B4-BE49-F238E27FC236}">
                <a16:creationId xmlns:a16="http://schemas.microsoft.com/office/drawing/2014/main" id="{15E7E4CC-F694-B4A8-BCDE-57789B4BBF7E}"/>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C1693700-C6C4-A90B-E7D1-264F1757FAC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EE2FCC33-3B64-8E31-67B9-0E4214C64A8A}"/>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2">
            <a:extLst>
              <a:ext uri="{FF2B5EF4-FFF2-40B4-BE49-F238E27FC236}">
                <a16:creationId xmlns:a16="http://schemas.microsoft.com/office/drawing/2014/main" id="{2BFA711D-3064-B0F5-4C64-B9B8B5F9E089}"/>
              </a:ext>
            </a:extLst>
          </p:cNvPr>
          <p:cNvPicPr>
            <a:picLocks noGrp="1"/>
          </p:cNvPicPr>
          <p:nvPr>
            <p:ph type="pic" sz="quarter" idx="11"/>
          </p:nvPr>
        </p:nvPicPr>
        <p:blipFill>
          <a:blip r:embed="rId5" cstate="print"/>
          <a:srcRect l="18961" r="18961"/>
          <a:stretch>
            <a:fillRect/>
          </a:stretch>
        </p:blipFill>
        <p:spPr>
          <a:xfrm>
            <a:off x="9352547" y="0"/>
            <a:ext cx="2688916" cy="6858000"/>
          </a:xfrm>
          <a:prstGeom prst="rect">
            <a:avLst/>
          </a:prstGeom>
        </p:spPr>
      </p:pic>
      <p:sp>
        <p:nvSpPr>
          <p:cNvPr id="6" name="TextBox 5">
            <a:extLst>
              <a:ext uri="{FF2B5EF4-FFF2-40B4-BE49-F238E27FC236}">
                <a16:creationId xmlns:a16="http://schemas.microsoft.com/office/drawing/2014/main" id="{22850626-F574-686A-B3B8-C2D24EA1AC4B}"/>
              </a:ext>
            </a:extLst>
          </p:cNvPr>
          <p:cNvSpPr txBox="1"/>
          <p:nvPr/>
        </p:nvSpPr>
        <p:spPr>
          <a:xfrm>
            <a:off x="796322" y="1621419"/>
            <a:ext cx="7197530" cy="3493200"/>
          </a:xfrm>
          <a:prstGeom prst="rect">
            <a:avLst/>
          </a:prstGeom>
          <a:noFill/>
        </p:spPr>
        <p:txBody>
          <a:bodyPr wrap="square">
            <a:spAutoFit/>
          </a:bodyPr>
          <a:lstStyle/>
          <a:p>
            <a:pPr marL="0" marR="0" algn="just">
              <a:lnSpc>
                <a:spcPct val="200000"/>
              </a:lnSpc>
              <a:spcAft>
                <a:spcPts val="800"/>
              </a:spcAft>
              <a:buNone/>
            </a:pPr>
            <a:r>
              <a:rPr lang="en-US" sz="2000" b="1" dirty="0">
                <a:effectLst/>
                <a:latin typeface="Posterama (Headings)"/>
                <a:ea typeface="Calibri" panose="020F0502020204030204" pitchFamily="34" charset="0"/>
                <a:cs typeface="Times New Roman" panose="02020603050405020304" pitchFamily="18" charset="0"/>
              </a:rPr>
              <a:t>Preprocessing:</a:t>
            </a:r>
          </a:p>
          <a:p>
            <a:pPr marL="285750" marR="0" indent="-285750" algn="just">
              <a:lnSpc>
                <a:spcPct val="200000"/>
              </a:lnSpc>
              <a:spcAft>
                <a:spcPts val="800"/>
              </a:spcAft>
              <a:buClr>
                <a:schemeClr val="accent1"/>
              </a:buClr>
              <a:buFont typeface="Wingdings" panose="05000000000000000000" pitchFamily="2" charset="2"/>
              <a:buChar char="v"/>
            </a:pPr>
            <a:r>
              <a:rPr lang="en-US" sz="2000" dirty="0">
                <a:effectLst/>
                <a:latin typeface="Posterama (Headings)"/>
                <a:ea typeface="Calibri" panose="020F0502020204030204" pitchFamily="34" charset="0"/>
                <a:cs typeface="Times New Roman" panose="02020603050405020304" pitchFamily="18" charset="0"/>
              </a:rPr>
              <a:t>Categorical encoding</a:t>
            </a:r>
          </a:p>
          <a:p>
            <a:pPr marL="285750" marR="0" indent="-285750" algn="just">
              <a:lnSpc>
                <a:spcPct val="200000"/>
              </a:lnSpc>
              <a:spcAft>
                <a:spcPts val="800"/>
              </a:spcAft>
              <a:buClr>
                <a:schemeClr val="accent1"/>
              </a:buClr>
              <a:buFont typeface="Wingdings" panose="05000000000000000000" pitchFamily="2" charset="2"/>
              <a:buChar char="v"/>
            </a:pPr>
            <a:r>
              <a:rPr lang="en-US" sz="2000" dirty="0">
                <a:effectLst/>
                <a:latin typeface="Posterama (Headings)"/>
                <a:ea typeface="Calibri" panose="020F0502020204030204" pitchFamily="34" charset="0"/>
                <a:cs typeface="Times New Roman" panose="02020603050405020304" pitchFamily="18" charset="0"/>
              </a:rPr>
              <a:t>Normalization</a:t>
            </a:r>
          </a:p>
          <a:p>
            <a:pPr marL="0" marR="0" algn="just">
              <a:lnSpc>
                <a:spcPct val="200000"/>
              </a:lnSpc>
              <a:spcAft>
                <a:spcPts val="800"/>
              </a:spcAft>
              <a:buNone/>
            </a:pPr>
            <a:r>
              <a:rPr lang="en-US" sz="2000" b="1" dirty="0">
                <a:effectLst/>
                <a:latin typeface="Posterama (Headings)"/>
                <a:ea typeface="Calibri" panose="020F0502020204030204" pitchFamily="34" charset="0"/>
                <a:cs typeface="Times New Roman" panose="02020603050405020304" pitchFamily="18" charset="0"/>
              </a:rPr>
              <a:t>Model Training</a:t>
            </a:r>
            <a:r>
              <a:rPr lang="en-US" sz="2000" dirty="0">
                <a:effectLst/>
                <a:latin typeface="Posterama (Headings)"/>
                <a:ea typeface="Calibri" panose="020F0502020204030204" pitchFamily="34" charset="0"/>
                <a:cs typeface="Times New Roman" panose="02020603050405020304" pitchFamily="18" charset="0"/>
              </a:rPr>
              <a:t>: Each trained on same dataset</a:t>
            </a:r>
          </a:p>
          <a:p>
            <a:pPr marL="0" marR="0" algn="just">
              <a:lnSpc>
                <a:spcPct val="200000"/>
              </a:lnSpc>
              <a:spcAft>
                <a:spcPts val="800"/>
              </a:spcAft>
              <a:buNone/>
            </a:pPr>
            <a:r>
              <a:rPr lang="en-US" sz="2000" b="1" dirty="0">
                <a:effectLst/>
                <a:latin typeface="Posterama (Headings)"/>
                <a:ea typeface="Calibri" panose="020F0502020204030204" pitchFamily="34" charset="0"/>
                <a:cs typeface="Times New Roman" panose="02020603050405020304" pitchFamily="18" charset="0"/>
              </a:rPr>
              <a:t>Evaluation</a:t>
            </a:r>
            <a:r>
              <a:rPr lang="en-US" sz="2000" dirty="0">
                <a:effectLst/>
                <a:latin typeface="Posterama (Headings)"/>
                <a:ea typeface="Calibri" panose="020F0502020204030204" pitchFamily="34" charset="0"/>
                <a:cs typeface="Times New Roman" panose="02020603050405020304" pitchFamily="18" charset="0"/>
              </a:rPr>
              <a:t>: Accuracy, Precision, Recall, F1-score, ROC-AUC</a:t>
            </a:r>
          </a:p>
        </p:txBody>
      </p:sp>
    </p:spTree>
    <p:extLst>
      <p:ext uri="{BB962C8B-B14F-4D97-AF65-F5344CB8AC3E}">
        <p14:creationId xmlns:p14="http://schemas.microsoft.com/office/powerpoint/2010/main" val="399653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E1F9-65BC-7D36-6B01-D539CC29A0CD}"/>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73871E89-E574-5310-8F17-6F43F8B213B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a:t>
            </a:fld>
            <a:endParaRPr lang="en-US" dirty="0"/>
          </a:p>
        </p:txBody>
      </p:sp>
      <p:sp>
        <p:nvSpPr>
          <p:cNvPr id="3" name="Title 2">
            <a:extLst>
              <a:ext uri="{FF2B5EF4-FFF2-40B4-BE49-F238E27FC236}">
                <a16:creationId xmlns:a16="http://schemas.microsoft.com/office/drawing/2014/main" id="{9753A860-6C7D-C8AC-41DD-D7D48E928756}"/>
              </a:ext>
            </a:extLst>
          </p:cNvPr>
          <p:cNvSpPr>
            <a:spLocks noGrp="1"/>
          </p:cNvSpPr>
          <p:nvPr>
            <p:ph type="ctrTitle"/>
          </p:nvPr>
        </p:nvSpPr>
        <p:spPr>
          <a:xfrm>
            <a:off x="463135" y="354397"/>
            <a:ext cx="8572267" cy="848761"/>
          </a:xfrm>
        </p:spPr>
        <p:txBody>
          <a:bodyPr>
            <a:noAutofit/>
          </a:bodyPr>
          <a:lstStyle/>
          <a:p>
            <a:r>
              <a:rPr lang="en-US" dirty="0"/>
              <a:t>Models Compared</a:t>
            </a:r>
          </a:p>
        </p:txBody>
      </p:sp>
      <p:grpSp>
        <p:nvGrpSpPr>
          <p:cNvPr id="17" name="Group 16">
            <a:extLst>
              <a:ext uri="{FF2B5EF4-FFF2-40B4-BE49-F238E27FC236}">
                <a16:creationId xmlns:a16="http://schemas.microsoft.com/office/drawing/2014/main" id="{E0101C8B-1F9A-82E2-AA33-948F9E32BD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1C41E813-5DD3-FA5C-5B4E-66B560AEECC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953555E5-E840-B0A1-0880-83C773560770}"/>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4" name="object 2">
            <a:extLst>
              <a:ext uri="{FF2B5EF4-FFF2-40B4-BE49-F238E27FC236}">
                <a16:creationId xmlns:a16="http://schemas.microsoft.com/office/drawing/2014/main" id="{9485BC71-451D-A12F-A9B4-D53FD8BF1506}"/>
              </a:ext>
            </a:extLst>
          </p:cNvPr>
          <p:cNvPicPr/>
          <p:nvPr/>
        </p:nvPicPr>
        <p:blipFill>
          <a:blip r:embed="rId5" cstate="print"/>
          <a:stretch>
            <a:fillRect/>
          </a:stretch>
        </p:blipFill>
        <p:spPr>
          <a:xfrm>
            <a:off x="825287" y="1697354"/>
            <a:ext cx="2057400" cy="2057400"/>
          </a:xfrm>
          <a:prstGeom prst="rect">
            <a:avLst/>
          </a:prstGeom>
        </p:spPr>
      </p:pic>
      <p:pic>
        <p:nvPicPr>
          <p:cNvPr id="5" name="object 3">
            <a:extLst>
              <a:ext uri="{FF2B5EF4-FFF2-40B4-BE49-F238E27FC236}">
                <a16:creationId xmlns:a16="http://schemas.microsoft.com/office/drawing/2014/main" id="{ED72EB1C-D113-8AF3-FEA9-A5417151EADC}"/>
              </a:ext>
            </a:extLst>
          </p:cNvPr>
          <p:cNvPicPr/>
          <p:nvPr/>
        </p:nvPicPr>
        <p:blipFill>
          <a:blip r:embed="rId6" cstate="print"/>
          <a:stretch>
            <a:fillRect/>
          </a:stretch>
        </p:blipFill>
        <p:spPr>
          <a:xfrm>
            <a:off x="6696098" y="1581094"/>
            <a:ext cx="2144874" cy="2336800"/>
          </a:xfrm>
          <a:prstGeom prst="rect">
            <a:avLst/>
          </a:prstGeom>
        </p:spPr>
      </p:pic>
      <p:pic>
        <p:nvPicPr>
          <p:cNvPr id="9" name="object 4">
            <a:extLst>
              <a:ext uri="{FF2B5EF4-FFF2-40B4-BE49-F238E27FC236}">
                <a16:creationId xmlns:a16="http://schemas.microsoft.com/office/drawing/2014/main" id="{6AE8004A-4DD2-976C-C3A7-A8CC9D9FC484}"/>
              </a:ext>
            </a:extLst>
          </p:cNvPr>
          <p:cNvPicPr/>
          <p:nvPr/>
        </p:nvPicPr>
        <p:blipFill>
          <a:blip r:embed="rId7" cstate="print"/>
          <a:stretch>
            <a:fillRect/>
          </a:stretch>
        </p:blipFill>
        <p:spPr>
          <a:xfrm>
            <a:off x="3698322" y="1564004"/>
            <a:ext cx="2204661" cy="2324100"/>
          </a:xfrm>
          <a:prstGeom prst="rect">
            <a:avLst/>
          </a:prstGeom>
        </p:spPr>
      </p:pic>
      <p:pic>
        <p:nvPicPr>
          <p:cNvPr id="12" name="object 5">
            <a:extLst>
              <a:ext uri="{FF2B5EF4-FFF2-40B4-BE49-F238E27FC236}">
                <a16:creationId xmlns:a16="http://schemas.microsoft.com/office/drawing/2014/main" id="{55448AB7-65C1-BA42-8DD9-23478F2A5E86}"/>
              </a:ext>
            </a:extLst>
          </p:cNvPr>
          <p:cNvPicPr/>
          <p:nvPr/>
        </p:nvPicPr>
        <p:blipFill>
          <a:blip r:embed="rId8" cstate="print"/>
          <a:stretch>
            <a:fillRect/>
          </a:stretch>
        </p:blipFill>
        <p:spPr>
          <a:xfrm>
            <a:off x="9409540" y="1652848"/>
            <a:ext cx="2160468" cy="1968500"/>
          </a:xfrm>
          <a:prstGeom prst="rect">
            <a:avLst/>
          </a:prstGeom>
        </p:spPr>
      </p:pic>
      <p:sp>
        <p:nvSpPr>
          <p:cNvPr id="13" name="object 7">
            <a:extLst>
              <a:ext uri="{FF2B5EF4-FFF2-40B4-BE49-F238E27FC236}">
                <a16:creationId xmlns:a16="http://schemas.microsoft.com/office/drawing/2014/main" id="{D198A938-2A8F-6F77-59ED-F15A81C1A919}"/>
              </a:ext>
            </a:extLst>
          </p:cNvPr>
          <p:cNvSpPr txBox="1"/>
          <p:nvPr/>
        </p:nvSpPr>
        <p:spPr>
          <a:xfrm>
            <a:off x="463136" y="1234480"/>
            <a:ext cx="2659283" cy="4439677"/>
          </a:xfrm>
          <a:prstGeom prst="rect">
            <a:avLst/>
          </a:prstGeom>
          <a:ln w="12700">
            <a:solidFill>
              <a:srgbClr val="444F54"/>
            </a:solidFill>
          </a:ln>
        </p:spPr>
        <p:txBody>
          <a:bodyPr vert="horz" wrap="square" lIns="0" tIns="0" rIns="0" bIns="0" rtlCol="0">
            <a:spAutoFit/>
          </a:bodyPr>
          <a:lstStyle/>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spcBef>
                <a:spcPts val="255"/>
              </a:spcBef>
            </a:pPr>
            <a:endParaRPr sz="2600" dirty="0">
              <a:latin typeface="Times New Roman" panose="02020603050405020304"/>
              <a:cs typeface="Times New Roman" panose="02020603050405020304"/>
            </a:endParaRPr>
          </a:p>
          <a:p>
            <a:pPr marL="30480" algn="ctr">
              <a:lnSpc>
                <a:spcPct val="100000"/>
              </a:lnSpc>
            </a:pPr>
            <a:r>
              <a:rPr sz="2600" spc="75" dirty="0">
                <a:solidFill>
                  <a:srgbClr val="0A2138"/>
                </a:solidFill>
                <a:latin typeface="Arial MT"/>
                <a:cs typeface="Arial MT"/>
              </a:rPr>
              <a:t>Logistic</a:t>
            </a:r>
            <a:r>
              <a:rPr sz="2600" spc="-10" dirty="0">
                <a:solidFill>
                  <a:srgbClr val="0A2138"/>
                </a:solidFill>
                <a:latin typeface="Arial MT"/>
                <a:cs typeface="Arial MT"/>
              </a:rPr>
              <a:t> </a:t>
            </a:r>
            <a:r>
              <a:rPr sz="2600" spc="-10" dirty="0">
                <a:solidFill>
                  <a:srgbClr val="031A31"/>
                </a:solidFill>
                <a:latin typeface="Arial MT"/>
                <a:cs typeface="Arial MT"/>
              </a:rPr>
              <a:t>Regre</a:t>
            </a:r>
            <a:r>
              <a:rPr lang="en-US" sz="2600" spc="-10" dirty="0">
                <a:solidFill>
                  <a:srgbClr val="031A31"/>
                </a:solidFill>
                <a:latin typeface="Arial MT"/>
                <a:cs typeface="Arial MT"/>
              </a:rPr>
              <a:t>s</a:t>
            </a:r>
            <a:r>
              <a:rPr sz="2600" spc="-10" dirty="0">
                <a:solidFill>
                  <a:srgbClr val="031A31"/>
                </a:solidFill>
                <a:latin typeface="Arial MT"/>
                <a:cs typeface="Arial MT"/>
              </a:rPr>
              <a:t>sio</a:t>
            </a:r>
            <a:r>
              <a:rPr lang="en-US" sz="2600" spc="-10" dirty="0">
                <a:solidFill>
                  <a:srgbClr val="031A31"/>
                </a:solidFill>
                <a:latin typeface="Arial MT"/>
                <a:cs typeface="Arial MT"/>
              </a:rPr>
              <a:t>n</a:t>
            </a:r>
            <a:endParaRPr sz="2600" dirty="0">
              <a:latin typeface="Arial MT"/>
              <a:cs typeface="Arial MT"/>
            </a:endParaRPr>
          </a:p>
        </p:txBody>
      </p:sp>
      <p:sp>
        <p:nvSpPr>
          <p:cNvPr id="14" name="object 7">
            <a:extLst>
              <a:ext uri="{FF2B5EF4-FFF2-40B4-BE49-F238E27FC236}">
                <a16:creationId xmlns:a16="http://schemas.microsoft.com/office/drawing/2014/main" id="{7ACF6982-AC9A-A6F7-6230-1CDAD7214621}"/>
              </a:ext>
            </a:extLst>
          </p:cNvPr>
          <p:cNvSpPr txBox="1"/>
          <p:nvPr/>
        </p:nvSpPr>
        <p:spPr>
          <a:xfrm>
            <a:off x="3335432" y="1253715"/>
            <a:ext cx="2659283" cy="4401205"/>
          </a:xfrm>
          <a:prstGeom prst="rect">
            <a:avLst/>
          </a:prstGeom>
          <a:ln w="12700">
            <a:solidFill>
              <a:srgbClr val="444F54"/>
            </a:solidFill>
          </a:ln>
        </p:spPr>
        <p:txBody>
          <a:bodyPr vert="horz" wrap="square" lIns="0" tIns="0" rIns="0" bIns="0" rtlCol="0">
            <a:spAutoFit/>
          </a:bodyPr>
          <a:lstStyle/>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marL="30480" algn="ctr">
              <a:lnSpc>
                <a:spcPct val="100000"/>
              </a:lnSpc>
            </a:pPr>
            <a:endParaRPr lang="en-US" sz="2600" dirty="0">
              <a:latin typeface="Times New Roman" panose="02020603050405020304"/>
              <a:cs typeface="Times New Roman" panose="02020603050405020304"/>
            </a:endParaRPr>
          </a:p>
          <a:p>
            <a:pPr marL="30480" algn="ctr">
              <a:lnSpc>
                <a:spcPct val="100000"/>
              </a:lnSpc>
            </a:pPr>
            <a:endParaRPr lang="en-US" sz="2600" spc="-10" dirty="0">
              <a:latin typeface="Times New Roman" panose="02020603050405020304"/>
              <a:cs typeface="Times New Roman" panose="02020603050405020304"/>
            </a:endParaRPr>
          </a:p>
          <a:p>
            <a:pPr marL="30480" algn="ctr">
              <a:lnSpc>
                <a:spcPct val="100000"/>
              </a:lnSpc>
            </a:pPr>
            <a:endParaRPr lang="en-US" sz="2600" spc="-10" dirty="0">
              <a:latin typeface="Times New Roman" panose="02020603050405020304"/>
              <a:cs typeface="Times New Roman" panose="02020603050405020304"/>
            </a:endParaRPr>
          </a:p>
          <a:p>
            <a:pPr marL="30480" algn="ctr">
              <a:lnSpc>
                <a:spcPct val="100000"/>
              </a:lnSpc>
            </a:pPr>
            <a:r>
              <a:rPr lang="en-US" sz="2600" spc="-10" dirty="0">
                <a:latin typeface="Times New Roman" panose="02020603050405020304"/>
                <a:cs typeface="Times New Roman" panose="02020603050405020304"/>
              </a:rPr>
              <a:t>Random Forest</a:t>
            </a:r>
            <a:r>
              <a:rPr sz="2350" spc="-10" dirty="0">
                <a:latin typeface="Arial MT"/>
                <a:cs typeface="Arial MT"/>
              </a:rPr>
              <a:t>.</a:t>
            </a:r>
            <a:endParaRPr sz="2350" dirty="0">
              <a:latin typeface="Arial MT"/>
              <a:cs typeface="Arial MT"/>
            </a:endParaRPr>
          </a:p>
        </p:txBody>
      </p:sp>
      <p:sp>
        <p:nvSpPr>
          <p:cNvPr id="16" name="object 7">
            <a:extLst>
              <a:ext uri="{FF2B5EF4-FFF2-40B4-BE49-F238E27FC236}">
                <a16:creationId xmlns:a16="http://schemas.microsoft.com/office/drawing/2014/main" id="{5D911B63-0350-6F11-65D4-BF438968D767}"/>
              </a:ext>
            </a:extLst>
          </p:cNvPr>
          <p:cNvSpPr txBox="1"/>
          <p:nvPr/>
        </p:nvSpPr>
        <p:spPr>
          <a:xfrm>
            <a:off x="6357605" y="1234480"/>
            <a:ext cx="2677797" cy="4439677"/>
          </a:xfrm>
          <a:prstGeom prst="rect">
            <a:avLst/>
          </a:prstGeom>
          <a:ln w="12700">
            <a:solidFill>
              <a:srgbClr val="444F54"/>
            </a:solidFill>
          </a:ln>
        </p:spPr>
        <p:txBody>
          <a:bodyPr vert="horz" wrap="square" lIns="0" tIns="0" rIns="0" bIns="0" rtlCol="0">
            <a:spAutoFit/>
          </a:bodyPr>
          <a:lstStyle/>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spcBef>
                <a:spcPts val="255"/>
              </a:spcBef>
            </a:pPr>
            <a:endParaRPr sz="2600" dirty="0">
              <a:latin typeface="Times New Roman" panose="02020603050405020304"/>
              <a:cs typeface="Times New Roman" panose="02020603050405020304"/>
            </a:endParaRPr>
          </a:p>
          <a:p>
            <a:pPr marL="30480" algn="ctr">
              <a:lnSpc>
                <a:spcPct val="100000"/>
              </a:lnSpc>
            </a:pPr>
            <a:endParaRPr lang="en-US" sz="2600" spc="75" dirty="0">
              <a:solidFill>
                <a:srgbClr val="0A2138"/>
              </a:solidFill>
              <a:latin typeface="Arial MT"/>
              <a:cs typeface="Arial MT"/>
            </a:endParaRPr>
          </a:p>
          <a:p>
            <a:pPr marL="30480" algn="ctr">
              <a:lnSpc>
                <a:spcPct val="100000"/>
              </a:lnSpc>
            </a:pPr>
            <a:r>
              <a:rPr lang="en-US" sz="2600" spc="75" dirty="0">
                <a:solidFill>
                  <a:srgbClr val="0A2138"/>
                </a:solidFill>
                <a:latin typeface="Arial MT"/>
                <a:cs typeface="Arial MT"/>
              </a:rPr>
              <a:t>SVC</a:t>
            </a:r>
            <a:r>
              <a:rPr sz="2350" spc="-10" dirty="0">
                <a:latin typeface="Arial MT"/>
                <a:cs typeface="Arial MT"/>
              </a:rPr>
              <a:t>.</a:t>
            </a:r>
            <a:endParaRPr sz="2350" dirty="0">
              <a:latin typeface="Arial MT"/>
              <a:cs typeface="Arial MT"/>
            </a:endParaRPr>
          </a:p>
        </p:txBody>
      </p:sp>
      <p:sp>
        <p:nvSpPr>
          <p:cNvPr id="20" name="object 7">
            <a:extLst>
              <a:ext uri="{FF2B5EF4-FFF2-40B4-BE49-F238E27FC236}">
                <a16:creationId xmlns:a16="http://schemas.microsoft.com/office/drawing/2014/main" id="{FFB6843B-3A42-8230-A89D-DE572534F435}"/>
              </a:ext>
            </a:extLst>
          </p:cNvPr>
          <p:cNvSpPr txBox="1"/>
          <p:nvPr/>
        </p:nvSpPr>
        <p:spPr>
          <a:xfrm>
            <a:off x="9264381" y="1253715"/>
            <a:ext cx="2562490" cy="4439677"/>
          </a:xfrm>
          <a:prstGeom prst="rect">
            <a:avLst/>
          </a:prstGeom>
          <a:ln w="12700">
            <a:solidFill>
              <a:srgbClr val="444F54"/>
            </a:solidFill>
          </a:ln>
        </p:spPr>
        <p:txBody>
          <a:bodyPr vert="horz" wrap="square" lIns="0" tIns="0" rIns="0" bIns="0" rtlCol="0">
            <a:spAutoFit/>
          </a:bodyPr>
          <a:lstStyle/>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pPr>
            <a:endParaRPr sz="2600" dirty="0">
              <a:latin typeface="Times New Roman" panose="02020603050405020304"/>
              <a:cs typeface="Times New Roman" panose="02020603050405020304"/>
            </a:endParaRPr>
          </a:p>
          <a:p>
            <a:pPr>
              <a:lnSpc>
                <a:spcPct val="100000"/>
              </a:lnSpc>
              <a:spcBef>
                <a:spcPts val="255"/>
              </a:spcBef>
            </a:pPr>
            <a:endParaRPr sz="2600" dirty="0">
              <a:latin typeface="Times New Roman" panose="02020603050405020304"/>
              <a:cs typeface="Times New Roman" panose="02020603050405020304"/>
            </a:endParaRPr>
          </a:p>
          <a:p>
            <a:pPr marL="30480" algn="ctr">
              <a:lnSpc>
                <a:spcPct val="100000"/>
              </a:lnSpc>
            </a:pPr>
            <a:endParaRPr lang="en-US" sz="2600" spc="75" dirty="0">
              <a:solidFill>
                <a:srgbClr val="0A2138"/>
              </a:solidFill>
              <a:latin typeface="Arial MT"/>
              <a:cs typeface="Arial MT"/>
            </a:endParaRPr>
          </a:p>
          <a:p>
            <a:pPr marL="30480" algn="ctr">
              <a:lnSpc>
                <a:spcPct val="100000"/>
              </a:lnSpc>
            </a:pPr>
            <a:r>
              <a:rPr lang="en-US" sz="2600" spc="75" dirty="0" err="1">
                <a:solidFill>
                  <a:srgbClr val="0A2138"/>
                </a:solidFill>
                <a:latin typeface="Arial MT"/>
                <a:cs typeface="Arial MT"/>
              </a:rPr>
              <a:t>XGBoost</a:t>
            </a:r>
            <a:endParaRPr sz="2600" dirty="0">
              <a:latin typeface="Arial MT"/>
              <a:cs typeface="Arial MT"/>
            </a:endParaRPr>
          </a:p>
        </p:txBody>
      </p:sp>
    </p:spTree>
    <p:extLst>
      <p:ext uri="{BB962C8B-B14F-4D97-AF65-F5344CB8AC3E}">
        <p14:creationId xmlns:p14="http://schemas.microsoft.com/office/powerpoint/2010/main" val="4211546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056E1-7E72-0DCD-6EE0-4F2C4742261F}"/>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93EA943E-B0F2-10DB-BF53-8C98DD6D49D5}"/>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9</a:t>
            </a:fld>
            <a:endParaRPr lang="en-US" dirty="0"/>
          </a:p>
        </p:txBody>
      </p:sp>
      <p:sp>
        <p:nvSpPr>
          <p:cNvPr id="3" name="Title 2">
            <a:extLst>
              <a:ext uri="{FF2B5EF4-FFF2-40B4-BE49-F238E27FC236}">
                <a16:creationId xmlns:a16="http://schemas.microsoft.com/office/drawing/2014/main" id="{999B1350-9B06-DFE1-5BDF-057487CC75B4}"/>
              </a:ext>
            </a:extLst>
          </p:cNvPr>
          <p:cNvSpPr>
            <a:spLocks noGrp="1"/>
          </p:cNvSpPr>
          <p:nvPr>
            <p:ph type="ctrTitle"/>
          </p:nvPr>
        </p:nvSpPr>
        <p:spPr>
          <a:xfrm>
            <a:off x="710146" y="368300"/>
            <a:ext cx="7032880" cy="638686"/>
          </a:xfrm>
        </p:spPr>
        <p:txBody>
          <a:bodyPr>
            <a:noAutofit/>
          </a:bodyPr>
          <a:lstStyle/>
          <a:p>
            <a:r>
              <a:rPr lang="en-US" dirty="0"/>
              <a:t>Model Performance Matrix</a:t>
            </a:r>
          </a:p>
        </p:txBody>
      </p:sp>
      <p:grpSp>
        <p:nvGrpSpPr>
          <p:cNvPr id="17" name="Group 16">
            <a:extLst>
              <a:ext uri="{FF2B5EF4-FFF2-40B4-BE49-F238E27FC236}">
                <a16:creationId xmlns:a16="http://schemas.microsoft.com/office/drawing/2014/main" id="{F188E672-544D-8DE6-53D8-C26F90BDAC47}"/>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EA2DD186-DE13-A031-49EC-35990B8F3D1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D256254B-E2D0-048E-2202-C56647871A45}"/>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22" name="object 2">
            <a:extLst>
              <a:ext uri="{FF2B5EF4-FFF2-40B4-BE49-F238E27FC236}">
                <a16:creationId xmlns:a16="http://schemas.microsoft.com/office/drawing/2014/main" id="{95B6E986-F8F1-70C7-C9EB-42F5332B08D3}"/>
              </a:ext>
            </a:extLst>
          </p:cNvPr>
          <p:cNvPicPr>
            <a:picLocks noGrp="1"/>
          </p:cNvPicPr>
          <p:nvPr>
            <p:ph type="pic" sz="quarter" idx="11"/>
          </p:nvPr>
        </p:nvPicPr>
        <p:blipFill>
          <a:blip r:embed="rId5" cstate="print"/>
          <a:srcRect l="18961" r="18961"/>
          <a:stretch>
            <a:fillRect/>
          </a:stretch>
        </p:blipFill>
        <p:spPr>
          <a:xfrm>
            <a:off x="9352547" y="0"/>
            <a:ext cx="2688916" cy="6858000"/>
          </a:xfrm>
          <a:prstGeom prst="rect">
            <a:avLst/>
          </a:prstGeom>
        </p:spPr>
      </p:pic>
      <p:graphicFrame>
        <p:nvGraphicFramePr>
          <p:cNvPr id="12" name="Table 11">
            <a:extLst>
              <a:ext uri="{FF2B5EF4-FFF2-40B4-BE49-F238E27FC236}">
                <a16:creationId xmlns:a16="http://schemas.microsoft.com/office/drawing/2014/main" id="{90B134E1-2733-027E-946D-2791577653DB}"/>
              </a:ext>
            </a:extLst>
          </p:cNvPr>
          <p:cNvGraphicFramePr>
            <a:graphicFrameLocks noGrp="1"/>
          </p:cNvGraphicFramePr>
          <p:nvPr>
            <p:extLst>
              <p:ext uri="{D42A27DB-BD31-4B8C-83A1-F6EECF244321}">
                <p14:modId xmlns:p14="http://schemas.microsoft.com/office/powerpoint/2010/main" val="221992088"/>
              </p:ext>
            </p:extLst>
          </p:nvPr>
        </p:nvGraphicFramePr>
        <p:xfrm>
          <a:off x="392646" y="1398825"/>
          <a:ext cx="9919755" cy="4258693"/>
        </p:xfrm>
        <a:graphic>
          <a:graphicData uri="http://schemas.openxmlformats.org/drawingml/2006/table">
            <a:tbl>
              <a:tblPr firstRow="1" firstCol="1" bandRow="1">
                <a:tableStyleId>{3B4B98B0-60AC-42C2-AFA5-B58CD77FA1E5}</a:tableStyleId>
              </a:tblPr>
              <a:tblGrid>
                <a:gridCol w="2159008">
                  <a:extLst>
                    <a:ext uri="{9D8B030D-6E8A-4147-A177-3AD203B41FA5}">
                      <a16:colId xmlns:a16="http://schemas.microsoft.com/office/drawing/2014/main" val="2249678039"/>
                    </a:ext>
                  </a:extLst>
                </a:gridCol>
                <a:gridCol w="1808894">
                  <a:extLst>
                    <a:ext uri="{9D8B030D-6E8A-4147-A177-3AD203B41FA5}">
                      <a16:colId xmlns:a16="http://schemas.microsoft.com/office/drawing/2014/main" val="903338423"/>
                    </a:ext>
                  </a:extLst>
                </a:gridCol>
                <a:gridCol w="1983951">
                  <a:extLst>
                    <a:ext uri="{9D8B030D-6E8A-4147-A177-3AD203B41FA5}">
                      <a16:colId xmlns:a16="http://schemas.microsoft.com/office/drawing/2014/main" val="894882386"/>
                    </a:ext>
                  </a:extLst>
                </a:gridCol>
                <a:gridCol w="1983951">
                  <a:extLst>
                    <a:ext uri="{9D8B030D-6E8A-4147-A177-3AD203B41FA5}">
                      <a16:colId xmlns:a16="http://schemas.microsoft.com/office/drawing/2014/main" val="1803284934"/>
                    </a:ext>
                  </a:extLst>
                </a:gridCol>
                <a:gridCol w="1983951">
                  <a:extLst>
                    <a:ext uri="{9D8B030D-6E8A-4147-A177-3AD203B41FA5}">
                      <a16:colId xmlns:a16="http://schemas.microsoft.com/office/drawing/2014/main" val="2563618129"/>
                    </a:ext>
                  </a:extLst>
                </a:gridCol>
              </a:tblGrid>
              <a:tr h="781319">
                <a:tc>
                  <a:txBody>
                    <a:bodyPr/>
                    <a:lstStyle/>
                    <a:p>
                      <a:pPr marL="0" marR="0" algn="ctr">
                        <a:lnSpc>
                          <a:spcPct val="200000"/>
                        </a:lnSpc>
                        <a:spcAft>
                          <a:spcPts val="800"/>
                        </a:spcAft>
                        <a:buNone/>
                      </a:pPr>
                      <a:r>
                        <a:rPr lang="en-US" sz="2000" kern="100" dirty="0">
                          <a:effectLst/>
                          <a:latin typeface="Posterama (Headings)"/>
                        </a:rPr>
                        <a:t>Model</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200000"/>
                        </a:lnSpc>
                        <a:spcAft>
                          <a:spcPts val="800"/>
                        </a:spcAft>
                        <a:buNone/>
                      </a:pPr>
                      <a:r>
                        <a:rPr lang="en-US" sz="2000" kern="100" dirty="0">
                          <a:effectLst/>
                          <a:latin typeface="Posterama (Headings)"/>
                        </a:rPr>
                        <a:t>Accuracy</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200000"/>
                        </a:lnSpc>
                        <a:spcAft>
                          <a:spcPts val="800"/>
                        </a:spcAft>
                        <a:buNone/>
                      </a:pPr>
                      <a:r>
                        <a:rPr lang="en-US" sz="2000" kern="100" dirty="0">
                          <a:effectLst/>
                          <a:latin typeface="Posterama (Headings)"/>
                        </a:rPr>
                        <a:t>Recall (Stroke)</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200000"/>
                        </a:lnSpc>
                        <a:spcAft>
                          <a:spcPts val="800"/>
                        </a:spcAft>
                        <a:buNone/>
                      </a:pPr>
                      <a:r>
                        <a:rPr lang="en-US" sz="2000" kern="100">
                          <a:effectLst/>
                          <a:latin typeface="Posterama (Headings)"/>
                        </a:rPr>
                        <a:t>F1 Score</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200000"/>
                        </a:lnSpc>
                        <a:spcAft>
                          <a:spcPts val="800"/>
                        </a:spcAft>
                        <a:buNone/>
                      </a:pPr>
                      <a:r>
                        <a:rPr lang="en-US" sz="2000" kern="100" dirty="0">
                          <a:effectLst/>
                          <a:latin typeface="Posterama (Headings)"/>
                        </a:rPr>
                        <a:t>Overfitting Risk</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4410479"/>
                  </a:ext>
                </a:extLst>
              </a:tr>
              <a:tr h="781479">
                <a:tc>
                  <a:txBody>
                    <a:bodyPr/>
                    <a:lstStyle/>
                    <a:p>
                      <a:pPr marL="0" marR="0" algn="l">
                        <a:lnSpc>
                          <a:spcPct val="200000"/>
                        </a:lnSpc>
                        <a:spcAft>
                          <a:spcPts val="800"/>
                        </a:spcAft>
                        <a:buNone/>
                      </a:pPr>
                      <a:r>
                        <a:rPr lang="en-US" sz="2000" kern="100" dirty="0">
                          <a:effectLst/>
                          <a:latin typeface="Posterama (Headings)"/>
                        </a:rPr>
                        <a:t>Logistic Reg.</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78%</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81%</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a:effectLst/>
                          <a:latin typeface="Posterama (Headings)"/>
                        </a:rPr>
                        <a:t>78%</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a:effectLst/>
                          <a:latin typeface="Posterama (Headings)"/>
                        </a:rPr>
                        <a:t>Low</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3647296"/>
                  </a:ext>
                </a:extLst>
              </a:tr>
              <a:tr h="781479">
                <a:tc>
                  <a:txBody>
                    <a:bodyPr/>
                    <a:lstStyle/>
                    <a:p>
                      <a:pPr marL="0" marR="0" algn="l">
                        <a:lnSpc>
                          <a:spcPct val="200000"/>
                        </a:lnSpc>
                        <a:spcAft>
                          <a:spcPts val="800"/>
                        </a:spcAft>
                        <a:buNone/>
                      </a:pPr>
                      <a:r>
                        <a:rPr lang="en-US" sz="2000" kern="100" dirty="0">
                          <a:effectLst/>
                          <a:latin typeface="Posterama (Headings)"/>
                        </a:rPr>
                        <a:t>Random Forest</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a:effectLst/>
                          <a:latin typeface="Posterama (Headings)"/>
                        </a:rPr>
                        <a:t>100%</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100%</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100%</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High</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5013960"/>
                  </a:ext>
                </a:extLst>
              </a:tr>
              <a:tr h="781479">
                <a:tc>
                  <a:txBody>
                    <a:bodyPr/>
                    <a:lstStyle/>
                    <a:p>
                      <a:pPr marL="0" marR="0" algn="l">
                        <a:lnSpc>
                          <a:spcPct val="200000"/>
                        </a:lnSpc>
                        <a:spcAft>
                          <a:spcPts val="800"/>
                        </a:spcAft>
                        <a:buNone/>
                      </a:pPr>
                      <a:r>
                        <a:rPr lang="en-US" sz="2000" kern="100">
                          <a:effectLst/>
                          <a:latin typeface="Posterama (Headings)"/>
                        </a:rPr>
                        <a:t>SVC</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a:effectLst/>
                          <a:latin typeface="Posterama (Headings)"/>
                        </a:rPr>
                        <a:t>78%</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83%</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79%</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Medium</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7069226"/>
                  </a:ext>
                </a:extLst>
              </a:tr>
              <a:tr h="781479">
                <a:tc>
                  <a:txBody>
                    <a:bodyPr/>
                    <a:lstStyle/>
                    <a:p>
                      <a:pPr marL="0" marR="0" algn="l">
                        <a:lnSpc>
                          <a:spcPct val="200000"/>
                        </a:lnSpc>
                        <a:spcAft>
                          <a:spcPts val="800"/>
                        </a:spcAft>
                        <a:buNone/>
                      </a:pPr>
                      <a:r>
                        <a:rPr lang="en-US" sz="2000" kern="100">
                          <a:effectLst/>
                          <a:latin typeface="Posterama (Headings)"/>
                        </a:rPr>
                        <a:t>XGBoost</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93%</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99%</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a:effectLst/>
                          <a:latin typeface="Posterama (Headings)"/>
                        </a:rPr>
                        <a:t>93%</a:t>
                      </a:r>
                      <a:endParaRPr lang="en-US" sz="20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200000"/>
                        </a:lnSpc>
                        <a:spcAft>
                          <a:spcPts val="800"/>
                        </a:spcAft>
                        <a:buNone/>
                      </a:pPr>
                      <a:r>
                        <a:rPr lang="en-US" sz="2000" kern="100" dirty="0">
                          <a:effectLst/>
                          <a:latin typeface="Posterama (Headings)"/>
                        </a:rPr>
                        <a:t>Low–Medium</a:t>
                      </a:r>
                      <a:endParaRPr lang="en-US" sz="20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6895504"/>
                  </a:ext>
                </a:extLst>
              </a:tr>
            </a:tbl>
          </a:graphicData>
        </a:graphic>
      </p:graphicFrame>
    </p:spTree>
    <p:extLst>
      <p:ext uri="{BB962C8B-B14F-4D97-AF65-F5344CB8AC3E}">
        <p14:creationId xmlns:p14="http://schemas.microsoft.com/office/powerpoint/2010/main" val="294775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15020-1D8D-A47C-6701-BEDBB3B9DF51}"/>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DEB4EEEC-4C71-8B4D-93FF-C17B37B0EED9}"/>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10</a:t>
            </a:fld>
            <a:endParaRPr lang="en-US" dirty="0"/>
          </a:p>
        </p:txBody>
      </p:sp>
      <p:sp>
        <p:nvSpPr>
          <p:cNvPr id="3" name="Title 2">
            <a:extLst>
              <a:ext uri="{FF2B5EF4-FFF2-40B4-BE49-F238E27FC236}">
                <a16:creationId xmlns:a16="http://schemas.microsoft.com/office/drawing/2014/main" id="{D8706F62-D97E-0D64-8661-1A6999AE1CFA}"/>
              </a:ext>
            </a:extLst>
          </p:cNvPr>
          <p:cNvSpPr>
            <a:spLocks noGrp="1"/>
          </p:cNvSpPr>
          <p:nvPr>
            <p:ph type="ctrTitle"/>
          </p:nvPr>
        </p:nvSpPr>
        <p:spPr>
          <a:xfrm>
            <a:off x="796322" y="320040"/>
            <a:ext cx="6732237" cy="1017147"/>
          </a:xfrm>
        </p:spPr>
        <p:txBody>
          <a:bodyPr>
            <a:noAutofit/>
          </a:bodyPr>
          <a:lstStyle/>
          <a:p>
            <a:r>
              <a:rPr lang="en-US" dirty="0"/>
              <a:t>Logistic Regression</a:t>
            </a:r>
          </a:p>
        </p:txBody>
      </p:sp>
      <p:grpSp>
        <p:nvGrpSpPr>
          <p:cNvPr id="17" name="Group 16">
            <a:extLst>
              <a:ext uri="{FF2B5EF4-FFF2-40B4-BE49-F238E27FC236}">
                <a16:creationId xmlns:a16="http://schemas.microsoft.com/office/drawing/2014/main" id="{4CCAF60B-9AF6-CF9C-EFDD-6CF27C0B0649}"/>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13E6C3E2-FC4C-679F-ABD5-6A85C6BDCAC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AAE212A1-462F-9545-5C96-E7169A6872D1}"/>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30" name="Picture 29">
            <a:extLst>
              <a:ext uri="{FF2B5EF4-FFF2-40B4-BE49-F238E27FC236}">
                <a16:creationId xmlns:a16="http://schemas.microsoft.com/office/drawing/2014/main" id="{0A07575A-1828-60B3-4BD8-EFA80177EA8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1512114"/>
            <a:ext cx="5030974" cy="4777863"/>
          </a:xfrm>
          <a:prstGeom prst="rect">
            <a:avLst/>
          </a:prstGeom>
          <a:noFill/>
          <a:ln>
            <a:noFill/>
          </a:ln>
        </p:spPr>
      </p:pic>
      <p:graphicFrame>
        <p:nvGraphicFramePr>
          <p:cNvPr id="31" name="Table 30">
            <a:extLst>
              <a:ext uri="{FF2B5EF4-FFF2-40B4-BE49-F238E27FC236}">
                <a16:creationId xmlns:a16="http://schemas.microsoft.com/office/drawing/2014/main" id="{17C285F5-E5DA-51B8-1A08-E953FA9127FF}"/>
              </a:ext>
            </a:extLst>
          </p:cNvPr>
          <p:cNvGraphicFramePr>
            <a:graphicFrameLocks noGrp="1"/>
          </p:cNvGraphicFramePr>
          <p:nvPr>
            <p:extLst>
              <p:ext uri="{D42A27DB-BD31-4B8C-83A1-F6EECF244321}">
                <p14:modId xmlns:p14="http://schemas.microsoft.com/office/powerpoint/2010/main" val="704986766"/>
              </p:ext>
            </p:extLst>
          </p:nvPr>
        </p:nvGraphicFramePr>
        <p:xfrm>
          <a:off x="304800" y="1967443"/>
          <a:ext cx="6400800" cy="3867204"/>
        </p:xfrm>
        <a:graphic>
          <a:graphicData uri="http://schemas.openxmlformats.org/drawingml/2006/table">
            <a:tbl>
              <a:tblPr firstRow="1" firstCol="1" bandRow="1">
                <a:tableStyleId>{9D7B26C5-4107-4FEC-AEDC-1716B250A1EF}</a:tableStyleId>
              </a:tblPr>
              <a:tblGrid>
                <a:gridCol w="1771650">
                  <a:extLst>
                    <a:ext uri="{9D8B030D-6E8A-4147-A177-3AD203B41FA5}">
                      <a16:colId xmlns:a16="http://schemas.microsoft.com/office/drawing/2014/main" val="1722621827"/>
                    </a:ext>
                  </a:extLst>
                </a:gridCol>
                <a:gridCol w="1289215">
                  <a:extLst>
                    <a:ext uri="{9D8B030D-6E8A-4147-A177-3AD203B41FA5}">
                      <a16:colId xmlns:a16="http://schemas.microsoft.com/office/drawing/2014/main" val="3237702875"/>
                    </a:ext>
                  </a:extLst>
                </a:gridCol>
                <a:gridCol w="938357">
                  <a:extLst>
                    <a:ext uri="{9D8B030D-6E8A-4147-A177-3AD203B41FA5}">
                      <a16:colId xmlns:a16="http://schemas.microsoft.com/office/drawing/2014/main" val="3379993914"/>
                    </a:ext>
                  </a:extLst>
                </a:gridCol>
                <a:gridCol w="1241754">
                  <a:extLst>
                    <a:ext uri="{9D8B030D-6E8A-4147-A177-3AD203B41FA5}">
                      <a16:colId xmlns:a16="http://schemas.microsoft.com/office/drawing/2014/main" val="1135703658"/>
                    </a:ext>
                  </a:extLst>
                </a:gridCol>
                <a:gridCol w="1159824">
                  <a:extLst>
                    <a:ext uri="{9D8B030D-6E8A-4147-A177-3AD203B41FA5}">
                      <a16:colId xmlns:a16="http://schemas.microsoft.com/office/drawing/2014/main" val="3169392179"/>
                    </a:ext>
                  </a:extLst>
                </a:gridCol>
              </a:tblGrid>
              <a:tr h="644394">
                <a:tc>
                  <a:txBody>
                    <a:bodyPr/>
                    <a:lstStyle/>
                    <a:p>
                      <a:pPr marL="0" marR="0" algn="just">
                        <a:lnSpc>
                          <a:spcPct val="150000"/>
                        </a:lnSpc>
                        <a:spcAft>
                          <a:spcPts val="800"/>
                        </a:spcAft>
                        <a:buNone/>
                      </a:pPr>
                      <a:r>
                        <a:rPr lang="en-US" sz="1800" kern="100" dirty="0">
                          <a:effectLst/>
                          <a:latin typeface="Posterama (Headings)"/>
                        </a:rPr>
                        <a:t>Class</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Precision</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Recall</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F1-Score</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Support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8254365"/>
                  </a:ext>
                </a:extLst>
              </a:tr>
              <a:tr h="644562">
                <a:tc>
                  <a:txBody>
                    <a:bodyPr/>
                    <a:lstStyle/>
                    <a:p>
                      <a:pPr marL="0" marR="0" algn="just">
                        <a:lnSpc>
                          <a:spcPct val="150000"/>
                        </a:lnSpc>
                        <a:spcAft>
                          <a:spcPts val="800"/>
                        </a:spcAft>
                        <a:buNone/>
                      </a:pPr>
                      <a:r>
                        <a:rPr lang="en-US" sz="1800" kern="100">
                          <a:effectLst/>
                          <a:latin typeface="Posterama (Headings)"/>
                        </a:rPr>
                        <a:t>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0.79</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0.75</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8,477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2334936"/>
                  </a:ext>
                </a:extLst>
              </a:tr>
              <a:tr h="644562">
                <a:tc>
                  <a:txBody>
                    <a:bodyPr/>
                    <a:lstStyle/>
                    <a:p>
                      <a:pPr marL="0" marR="0" algn="just">
                        <a:lnSpc>
                          <a:spcPct val="150000"/>
                        </a:lnSpc>
                        <a:spcAft>
                          <a:spcPts val="800"/>
                        </a:spcAft>
                        <a:buNone/>
                      </a:pPr>
                      <a:r>
                        <a:rPr lang="en-US" sz="1800" kern="100">
                          <a:effectLst/>
                          <a:latin typeface="Posterama (Headings)"/>
                        </a:rPr>
                        <a:t>1</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0.76</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0.81</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8,570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262342"/>
                  </a:ext>
                </a:extLst>
              </a:tr>
              <a:tr h="644562">
                <a:tc>
                  <a:txBody>
                    <a:bodyPr/>
                    <a:lstStyle/>
                    <a:p>
                      <a:pPr marL="0" marR="0" algn="just">
                        <a:lnSpc>
                          <a:spcPct val="150000"/>
                        </a:lnSpc>
                        <a:spcAft>
                          <a:spcPts val="800"/>
                        </a:spcAft>
                        <a:buNone/>
                      </a:pPr>
                      <a:r>
                        <a:rPr lang="en-US" sz="1800" kern="100">
                          <a:effectLst/>
                          <a:latin typeface="Posterama (Headings)"/>
                        </a:rPr>
                        <a:t>Accuracy</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17,047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35811169"/>
                  </a:ext>
                </a:extLst>
              </a:tr>
              <a:tr h="644562">
                <a:tc>
                  <a:txBody>
                    <a:bodyPr/>
                    <a:lstStyle/>
                    <a:p>
                      <a:pPr marL="0" marR="0" algn="just">
                        <a:lnSpc>
                          <a:spcPct val="150000"/>
                        </a:lnSpc>
                        <a:spcAft>
                          <a:spcPts val="800"/>
                        </a:spcAft>
                        <a:buNone/>
                      </a:pPr>
                      <a:r>
                        <a:rPr lang="en-US" sz="1800" kern="100">
                          <a:effectLst/>
                          <a:latin typeface="Posterama (Headings)"/>
                        </a:rPr>
                        <a:t>Macro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0.78</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17,047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6168583"/>
                  </a:ext>
                </a:extLst>
              </a:tr>
              <a:tr h="644562">
                <a:tc>
                  <a:txBody>
                    <a:bodyPr/>
                    <a:lstStyle/>
                    <a:p>
                      <a:pPr marL="0" marR="0" algn="just">
                        <a:lnSpc>
                          <a:spcPct val="150000"/>
                        </a:lnSpc>
                        <a:spcAft>
                          <a:spcPts val="800"/>
                        </a:spcAft>
                        <a:buNone/>
                      </a:pPr>
                      <a:r>
                        <a:rPr lang="en-US" sz="1800" kern="100">
                          <a:effectLst/>
                          <a:latin typeface="Posterama (Headings)"/>
                        </a:rPr>
                        <a:t>Weighted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0.78</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0.78</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8024541"/>
                  </a:ext>
                </a:extLst>
              </a:tr>
            </a:tbl>
          </a:graphicData>
        </a:graphic>
      </p:graphicFrame>
    </p:spTree>
    <p:extLst>
      <p:ext uri="{BB962C8B-B14F-4D97-AF65-F5344CB8AC3E}">
        <p14:creationId xmlns:p14="http://schemas.microsoft.com/office/powerpoint/2010/main" val="880462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98EBC-56CA-6C72-C5C0-FAE1738A7CCF}"/>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9BCBD6CB-762E-CEE6-761B-3CB95A2696F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11</a:t>
            </a:fld>
            <a:endParaRPr lang="en-US" dirty="0"/>
          </a:p>
        </p:txBody>
      </p:sp>
      <p:sp>
        <p:nvSpPr>
          <p:cNvPr id="3" name="Title 2">
            <a:extLst>
              <a:ext uri="{FF2B5EF4-FFF2-40B4-BE49-F238E27FC236}">
                <a16:creationId xmlns:a16="http://schemas.microsoft.com/office/drawing/2014/main" id="{F72E1E15-F1E3-AA9F-DB4A-1E92CC7C78AA}"/>
              </a:ext>
            </a:extLst>
          </p:cNvPr>
          <p:cNvSpPr>
            <a:spLocks noGrp="1"/>
          </p:cNvSpPr>
          <p:nvPr>
            <p:ph type="ctrTitle"/>
          </p:nvPr>
        </p:nvSpPr>
        <p:spPr>
          <a:xfrm>
            <a:off x="463135" y="354397"/>
            <a:ext cx="8572267" cy="848761"/>
          </a:xfrm>
        </p:spPr>
        <p:txBody>
          <a:bodyPr>
            <a:noAutofit/>
          </a:bodyPr>
          <a:lstStyle/>
          <a:p>
            <a:r>
              <a:rPr lang="en-US" dirty="0"/>
              <a:t>Random Forest</a:t>
            </a:r>
          </a:p>
        </p:txBody>
      </p:sp>
      <p:grpSp>
        <p:nvGrpSpPr>
          <p:cNvPr id="17" name="Group 16">
            <a:extLst>
              <a:ext uri="{FF2B5EF4-FFF2-40B4-BE49-F238E27FC236}">
                <a16:creationId xmlns:a16="http://schemas.microsoft.com/office/drawing/2014/main" id="{7196D266-573C-DA88-6ADB-16E7453CB50F}"/>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B7AA179-FDC8-59F9-1503-3A9A5DBC3A7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84249182-37E2-E867-7AA2-A1C280AD5F62}"/>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5" name="Picture 4">
            <a:extLst>
              <a:ext uri="{FF2B5EF4-FFF2-40B4-BE49-F238E27FC236}">
                <a16:creationId xmlns:a16="http://schemas.microsoft.com/office/drawing/2014/main" id="{5BD37E81-2B21-F040-C5AB-67566FFA0C7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47632" y="1203158"/>
            <a:ext cx="4948084" cy="5086819"/>
          </a:xfrm>
          <a:prstGeom prst="rect">
            <a:avLst/>
          </a:prstGeom>
          <a:noFill/>
          <a:ln>
            <a:noFill/>
          </a:ln>
        </p:spPr>
      </p:pic>
      <p:graphicFrame>
        <p:nvGraphicFramePr>
          <p:cNvPr id="7" name="Table 6">
            <a:extLst>
              <a:ext uri="{FF2B5EF4-FFF2-40B4-BE49-F238E27FC236}">
                <a16:creationId xmlns:a16="http://schemas.microsoft.com/office/drawing/2014/main" id="{85EF0B8D-3BDB-5EC6-80BA-BBA87299BB40}"/>
              </a:ext>
            </a:extLst>
          </p:cNvPr>
          <p:cNvGraphicFramePr>
            <a:graphicFrameLocks noGrp="1"/>
          </p:cNvGraphicFramePr>
          <p:nvPr>
            <p:extLst>
              <p:ext uri="{D42A27DB-BD31-4B8C-83A1-F6EECF244321}">
                <p14:modId xmlns:p14="http://schemas.microsoft.com/office/powerpoint/2010/main" val="150832214"/>
              </p:ext>
            </p:extLst>
          </p:nvPr>
        </p:nvGraphicFramePr>
        <p:xfrm>
          <a:off x="233714" y="1892831"/>
          <a:ext cx="6413917" cy="3707471"/>
        </p:xfrm>
        <a:graphic>
          <a:graphicData uri="http://schemas.openxmlformats.org/drawingml/2006/table">
            <a:tbl>
              <a:tblPr firstRow="1" firstCol="1" bandRow="1">
                <a:tableStyleId>{9D7B26C5-4107-4FEC-AEDC-1716B250A1EF}</a:tableStyleId>
              </a:tblPr>
              <a:tblGrid>
                <a:gridCol w="1793331">
                  <a:extLst>
                    <a:ext uri="{9D8B030D-6E8A-4147-A177-3AD203B41FA5}">
                      <a16:colId xmlns:a16="http://schemas.microsoft.com/office/drawing/2014/main" val="2713002053"/>
                    </a:ext>
                  </a:extLst>
                </a:gridCol>
                <a:gridCol w="1273804">
                  <a:extLst>
                    <a:ext uri="{9D8B030D-6E8A-4147-A177-3AD203B41FA5}">
                      <a16:colId xmlns:a16="http://schemas.microsoft.com/office/drawing/2014/main" val="1605175895"/>
                    </a:ext>
                  </a:extLst>
                </a:gridCol>
                <a:gridCol w="940280">
                  <a:extLst>
                    <a:ext uri="{9D8B030D-6E8A-4147-A177-3AD203B41FA5}">
                      <a16:colId xmlns:a16="http://schemas.microsoft.com/office/drawing/2014/main" val="356170837"/>
                    </a:ext>
                  </a:extLst>
                </a:gridCol>
                <a:gridCol w="1244300">
                  <a:extLst>
                    <a:ext uri="{9D8B030D-6E8A-4147-A177-3AD203B41FA5}">
                      <a16:colId xmlns:a16="http://schemas.microsoft.com/office/drawing/2014/main" val="1299259295"/>
                    </a:ext>
                  </a:extLst>
                </a:gridCol>
                <a:gridCol w="1162202">
                  <a:extLst>
                    <a:ext uri="{9D8B030D-6E8A-4147-A177-3AD203B41FA5}">
                      <a16:colId xmlns:a16="http://schemas.microsoft.com/office/drawing/2014/main" val="2341752895"/>
                    </a:ext>
                  </a:extLst>
                </a:gridCol>
              </a:tblGrid>
              <a:tr h="609656">
                <a:tc>
                  <a:txBody>
                    <a:bodyPr/>
                    <a:lstStyle/>
                    <a:p>
                      <a:pPr marL="0" marR="0" algn="just">
                        <a:lnSpc>
                          <a:spcPct val="150000"/>
                        </a:lnSpc>
                        <a:spcAft>
                          <a:spcPts val="800"/>
                        </a:spcAft>
                        <a:buNone/>
                      </a:pPr>
                      <a:r>
                        <a:rPr lang="en-US" sz="1800" kern="100" dirty="0">
                          <a:effectLst/>
                          <a:latin typeface="Posterama (Headings)"/>
                        </a:rPr>
                        <a:t>Class</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Precision</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Recall</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F1-Score</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Support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55703105"/>
                  </a:ext>
                </a:extLst>
              </a:tr>
              <a:tr h="505906">
                <a:tc>
                  <a:txBody>
                    <a:bodyPr/>
                    <a:lstStyle/>
                    <a:p>
                      <a:pPr marL="0" marR="0" algn="just">
                        <a:lnSpc>
                          <a:spcPct val="150000"/>
                        </a:lnSpc>
                        <a:spcAft>
                          <a:spcPts val="800"/>
                        </a:spcAft>
                        <a:buNone/>
                      </a:pPr>
                      <a:r>
                        <a:rPr lang="en-US" sz="1800" kern="100" dirty="0">
                          <a:effectLst/>
                          <a:latin typeface="Posterama (Headings)"/>
                        </a:rPr>
                        <a:t>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8,477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4362147"/>
                  </a:ext>
                </a:extLst>
              </a:tr>
              <a:tr h="505906">
                <a:tc>
                  <a:txBody>
                    <a:bodyPr/>
                    <a:lstStyle/>
                    <a:p>
                      <a:pPr marL="0" marR="0" algn="just">
                        <a:lnSpc>
                          <a:spcPct val="150000"/>
                        </a:lnSpc>
                        <a:spcAft>
                          <a:spcPts val="800"/>
                        </a:spcAft>
                        <a:buNone/>
                      </a:pPr>
                      <a:r>
                        <a:rPr lang="en-US" sz="1800" kern="100" dirty="0">
                          <a:effectLst/>
                          <a:latin typeface="Posterama (Headings)"/>
                        </a:rPr>
                        <a:t>1</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8,570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6941262"/>
                  </a:ext>
                </a:extLst>
              </a:tr>
              <a:tr h="505906">
                <a:tc>
                  <a:txBody>
                    <a:bodyPr/>
                    <a:lstStyle/>
                    <a:p>
                      <a:pPr marL="0" marR="0" algn="just">
                        <a:lnSpc>
                          <a:spcPct val="150000"/>
                        </a:lnSpc>
                        <a:spcAft>
                          <a:spcPts val="800"/>
                        </a:spcAft>
                        <a:buNone/>
                      </a:pPr>
                      <a:r>
                        <a:rPr lang="en-US" sz="1800" kern="100" dirty="0">
                          <a:effectLst/>
                          <a:latin typeface="Posterama (Headings)"/>
                        </a:rPr>
                        <a:t>Accuracy</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8389748"/>
                  </a:ext>
                </a:extLst>
              </a:tr>
              <a:tr h="505906">
                <a:tc>
                  <a:txBody>
                    <a:bodyPr/>
                    <a:lstStyle/>
                    <a:p>
                      <a:pPr marL="0" marR="0" algn="just">
                        <a:lnSpc>
                          <a:spcPct val="150000"/>
                        </a:lnSpc>
                        <a:spcAft>
                          <a:spcPts val="800"/>
                        </a:spcAft>
                        <a:buNone/>
                      </a:pPr>
                      <a:r>
                        <a:rPr lang="en-US" sz="1800" kern="100">
                          <a:effectLst/>
                          <a:latin typeface="Posterama (Headings)"/>
                        </a:rPr>
                        <a:t>Macro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0565997"/>
                  </a:ext>
                </a:extLst>
              </a:tr>
              <a:tr h="1074191">
                <a:tc>
                  <a:txBody>
                    <a:bodyPr/>
                    <a:lstStyle/>
                    <a:p>
                      <a:pPr marL="0" marR="0" algn="just">
                        <a:lnSpc>
                          <a:spcPct val="150000"/>
                        </a:lnSpc>
                        <a:spcAft>
                          <a:spcPts val="800"/>
                        </a:spcAft>
                        <a:buNone/>
                      </a:pPr>
                      <a:r>
                        <a:rPr lang="en-US" sz="1800" kern="100">
                          <a:effectLst/>
                          <a:latin typeface="Posterama (Headings)"/>
                        </a:rPr>
                        <a:t>Weighted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latin typeface="Posterama (Headings)"/>
                        </a:rPr>
                        <a:t>1.00</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1.00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latin typeface="Posterama (Headings)"/>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4274019"/>
                  </a:ext>
                </a:extLst>
              </a:tr>
            </a:tbl>
          </a:graphicData>
        </a:graphic>
      </p:graphicFrame>
    </p:spTree>
    <p:extLst>
      <p:ext uri="{BB962C8B-B14F-4D97-AF65-F5344CB8AC3E}">
        <p14:creationId xmlns:p14="http://schemas.microsoft.com/office/powerpoint/2010/main" val="315359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1AE6-ADE4-604B-6C79-6EDBDB3F9A68}"/>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6359688C-1F62-5CC6-6A4F-74E37B2EB414}"/>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12</a:t>
            </a:fld>
            <a:endParaRPr lang="en-US" dirty="0"/>
          </a:p>
        </p:txBody>
      </p:sp>
      <p:sp>
        <p:nvSpPr>
          <p:cNvPr id="3" name="Title 2">
            <a:extLst>
              <a:ext uri="{FF2B5EF4-FFF2-40B4-BE49-F238E27FC236}">
                <a16:creationId xmlns:a16="http://schemas.microsoft.com/office/drawing/2014/main" id="{0C19B71A-467A-DA73-BF53-587CED6DB070}"/>
              </a:ext>
            </a:extLst>
          </p:cNvPr>
          <p:cNvSpPr>
            <a:spLocks noGrp="1"/>
          </p:cNvSpPr>
          <p:nvPr>
            <p:ph type="ctrTitle"/>
          </p:nvPr>
        </p:nvSpPr>
        <p:spPr>
          <a:xfrm>
            <a:off x="796322" y="320040"/>
            <a:ext cx="6732237" cy="1017147"/>
          </a:xfrm>
        </p:spPr>
        <p:txBody>
          <a:bodyPr>
            <a:noAutofit/>
          </a:bodyPr>
          <a:lstStyle/>
          <a:p>
            <a:r>
              <a:rPr lang="en-US" dirty="0"/>
              <a:t>SVC</a:t>
            </a:r>
          </a:p>
        </p:txBody>
      </p:sp>
      <p:grpSp>
        <p:nvGrpSpPr>
          <p:cNvPr id="17" name="Group 16">
            <a:extLst>
              <a:ext uri="{FF2B5EF4-FFF2-40B4-BE49-F238E27FC236}">
                <a16:creationId xmlns:a16="http://schemas.microsoft.com/office/drawing/2014/main" id="{6488D3D1-444F-97CC-B2B2-DA6EE382E23D}"/>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9EDA926A-7CD9-46B2-396C-3193A5B1AD1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E4C0FD69-BB63-741B-24E4-7EC00FF107A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5" name="Picture 4">
            <a:extLst>
              <a:ext uri="{FF2B5EF4-FFF2-40B4-BE49-F238E27FC236}">
                <a16:creationId xmlns:a16="http://schemas.microsoft.com/office/drawing/2014/main" id="{B1DB24BC-3551-CBD9-A9A0-15E2DD0F8AE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53250" y="1337187"/>
            <a:ext cx="4829174" cy="4952790"/>
          </a:xfrm>
          <a:prstGeom prst="rect">
            <a:avLst/>
          </a:prstGeom>
          <a:noFill/>
          <a:ln>
            <a:noFill/>
          </a:ln>
        </p:spPr>
      </p:pic>
      <p:graphicFrame>
        <p:nvGraphicFramePr>
          <p:cNvPr id="6" name="Table 5">
            <a:extLst>
              <a:ext uri="{FF2B5EF4-FFF2-40B4-BE49-F238E27FC236}">
                <a16:creationId xmlns:a16="http://schemas.microsoft.com/office/drawing/2014/main" id="{22893546-E648-E458-B6BA-0A41D3BD9BD8}"/>
              </a:ext>
            </a:extLst>
          </p:cNvPr>
          <p:cNvGraphicFramePr>
            <a:graphicFrameLocks noGrp="1"/>
          </p:cNvGraphicFramePr>
          <p:nvPr>
            <p:extLst>
              <p:ext uri="{D42A27DB-BD31-4B8C-83A1-F6EECF244321}">
                <p14:modId xmlns:p14="http://schemas.microsoft.com/office/powerpoint/2010/main" val="2701310325"/>
              </p:ext>
            </p:extLst>
          </p:nvPr>
        </p:nvGraphicFramePr>
        <p:xfrm>
          <a:off x="233381" y="1491326"/>
          <a:ext cx="6370428" cy="4528472"/>
        </p:xfrm>
        <a:graphic>
          <a:graphicData uri="http://schemas.openxmlformats.org/drawingml/2006/table">
            <a:tbl>
              <a:tblPr firstRow="1" firstCol="1" bandRow="1">
                <a:tableStyleId>{9D7B26C5-4107-4FEC-AEDC-1716B250A1EF}</a:tableStyleId>
              </a:tblPr>
              <a:tblGrid>
                <a:gridCol w="1717988">
                  <a:extLst>
                    <a:ext uri="{9D8B030D-6E8A-4147-A177-3AD203B41FA5}">
                      <a16:colId xmlns:a16="http://schemas.microsoft.com/office/drawing/2014/main" val="3340050615"/>
                    </a:ext>
                  </a:extLst>
                </a:gridCol>
                <a:gridCol w="1328352">
                  <a:extLst>
                    <a:ext uri="{9D8B030D-6E8A-4147-A177-3AD203B41FA5}">
                      <a16:colId xmlns:a16="http://schemas.microsoft.com/office/drawing/2014/main" val="1008806361"/>
                    </a:ext>
                  </a:extLst>
                </a:gridCol>
                <a:gridCol w="933903">
                  <a:extLst>
                    <a:ext uri="{9D8B030D-6E8A-4147-A177-3AD203B41FA5}">
                      <a16:colId xmlns:a16="http://schemas.microsoft.com/office/drawing/2014/main" val="4101424851"/>
                    </a:ext>
                  </a:extLst>
                </a:gridCol>
                <a:gridCol w="1235863">
                  <a:extLst>
                    <a:ext uri="{9D8B030D-6E8A-4147-A177-3AD203B41FA5}">
                      <a16:colId xmlns:a16="http://schemas.microsoft.com/office/drawing/2014/main" val="2155048598"/>
                    </a:ext>
                  </a:extLst>
                </a:gridCol>
                <a:gridCol w="1154322">
                  <a:extLst>
                    <a:ext uri="{9D8B030D-6E8A-4147-A177-3AD203B41FA5}">
                      <a16:colId xmlns:a16="http://schemas.microsoft.com/office/drawing/2014/main" val="1993743083"/>
                    </a:ext>
                  </a:extLst>
                </a:gridCol>
              </a:tblGrid>
              <a:tr h="635459">
                <a:tc>
                  <a:txBody>
                    <a:bodyPr/>
                    <a:lstStyle/>
                    <a:p>
                      <a:pPr marL="0" marR="0" algn="just">
                        <a:lnSpc>
                          <a:spcPct val="150000"/>
                        </a:lnSpc>
                        <a:spcAft>
                          <a:spcPts val="800"/>
                        </a:spcAft>
                        <a:buNone/>
                      </a:pPr>
                      <a:r>
                        <a:rPr lang="en-US" sz="1800" kern="100" dirty="0">
                          <a:effectLst/>
                        </a:rPr>
                        <a:t>Class</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Precision</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Recall</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F1-Score</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Support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5920582"/>
                  </a:ext>
                </a:extLst>
              </a:tr>
              <a:tr h="635790">
                <a:tc>
                  <a:txBody>
                    <a:bodyPr/>
                    <a:lstStyle/>
                    <a:p>
                      <a:pPr marL="0" marR="0" algn="just">
                        <a:lnSpc>
                          <a:spcPct val="150000"/>
                        </a:lnSpc>
                        <a:spcAft>
                          <a:spcPts val="800"/>
                        </a:spcAft>
                        <a:buNone/>
                      </a:pPr>
                      <a:r>
                        <a:rPr lang="en-US" sz="1800" kern="100" dirty="0">
                          <a:effectLst/>
                        </a:rPr>
                        <a:t>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0.81</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0.74</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8,524</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2639661"/>
                  </a:ext>
                </a:extLst>
              </a:tr>
              <a:tr h="635790">
                <a:tc>
                  <a:txBody>
                    <a:bodyPr/>
                    <a:lstStyle/>
                    <a:p>
                      <a:pPr marL="0" marR="0" algn="just">
                        <a:lnSpc>
                          <a:spcPct val="150000"/>
                        </a:lnSpc>
                        <a:spcAft>
                          <a:spcPts val="800"/>
                        </a:spcAft>
                        <a:buNone/>
                      </a:pPr>
                      <a:r>
                        <a:rPr lang="en-US" sz="1800" kern="100" dirty="0">
                          <a:effectLst/>
                        </a:rPr>
                        <a:t>1</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0.76</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0.83</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0.79</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8,523</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3425068"/>
                  </a:ext>
                </a:extLst>
              </a:tr>
              <a:tr h="635790">
                <a:tc>
                  <a:txBody>
                    <a:bodyPr/>
                    <a:lstStyle/>
                    <a:p>
                      <a:pPr marL="0" marR="0" algn="just">
                        <a:lnSpc>
                          <a:spcPct val="150000"/>
                        </a:lnSpc>
                        <a:spcAft>
                          <a:spcPts val="800"/>
                        </a:spcAft>
                        <a:buNone/>
                      </a:pPr>
                      <a:r>
                        <a:rPr lang="en-US" sz="1800" kern="100" dirty="0">
                          <a:effectLst/>
                        </a:rPr>
                        <a:t>Accuracy</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0.78</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17,047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3867469"/>
                  </a:ext>
                </a:extLst>
              </a:tr>
              <a:tr h="635790">
                <a:tc>
                  <a:txBody>
                    <a:bodyPr/>
                    <a:lstStyle/>
                    <a:p>
                      <a:pPr marL="0" marR="0" algn="just">
                        <a:lnSpc>
                          <a:spcPct val="150000"/>
                        </a:lnSpc>
                        <a:spcAft>
                          <a:spcPts val="800"/>
                        </a:spcAft>
                        <a:buNone/>
                      </a:pPr>
                      <a:r>
                        <a:rPr lang="en-US" sz="1800" kern="100">
                          <a:effectLst/>
                        </a:rPr>
                        <a:t>Macro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0.79</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7749194"/>
                  </a:ext>
                </a:extLst>
              </a:tr>
              <a:tr h="1349853">
                <a:tc>
                  <a:txBody>
                    <a:bodyPr/>
                    <a:lstStyle/>
                    <a:p>
                      <a:pPr marL="0" marR="0" algn="just">
                        <a:lnSpc>
                          <a:spcPct val="150000"/>
                        </a:lnSpc>
                        <a:spcAft>
                          <a:spcPts val="800"/>
                        </a:spcAft>
                        <a:buNone/>
                      </a:pPr>
                      <a:r>
                        <a:rPr lang="en-US" sz="1800" kern="100">
                          <a:effectLst/>
                        </a:rPr>
                        <a:t>Weighted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0.79</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0.78</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0.78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043453"/>
                  </a:ext>
                </a:extLst>
              </a:tr>
            </a:tbl>
          </a:graphicData>
        </a:graphic>
      </p:graphicFrame>
    </p:spTree>
    <p:extLst>
      <p:ext uri="{BB962C8B-B14F-4D97-AF65-F5344CB8AC3E}">
        <p14:creationId xmlns:p14="http://schemas.microsoft.com/office/powerpoint/2010/main" val="2235688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47DC9-B27B-BF06-18B0-013B9688F28D}"/>
            </a:ext>
          </a:extLst>
        </p:cNvPr>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999CEBAE-BB9C-9D88-09DD-FBF1DDF77AA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13</a:t>
            </a:fld>
            <a:endParaRPr lang="en-US" dirty="0"/>
          </a:p>
        </p:txBody>
      </p:sp>
      <p:sp>
        <p:nvSpPr>
          <p:cNvPr id="3" name="Title 2">
            <a:extLst>
              <a:ext uri="{FF2B5EF4-FFF2-40B4-BE49-F238E27FC236}">
                <a16:creationId xmlns:a16="http://schemas.microsoft.com/office/drawing/2014/main" id="{F648BE69-D7E7-36E4-C68E-F640925E5DD0}"/>
              </a:ext>
            </a:extLst>
          </p:cNvPr>
          <p:cNvSpPr>
            <a:spLocks noGrp="1"/>
          </p:cNvSpPr>
          <p:nvPr>
            <p:ph type="ctrTitle"/>
          </p:nvPr>
        </p:nvSpPr>
        <p:spPr>
          <a:xfrm>
            <a:off x="796322" y="320040"/>
            <a:ext cx="6732237" cy="1017147"/>
          </a:xfrm>
        </p:spPr>
        <p:txBody>
          <a:bodyPr>
            <a:noAutofit/>
          </a:bodyPr>
          <a:lstStyle/>
          <a:p>
            <a:r>
              <a:rPr lang="en-US" dirty="0" err="1"/>
              <a:t>XGBoost</a:t>
            </a:r>
            <a:endParaRPr lang="en-US" dirty="0"/>
          </a:p>
        </p:txBody>
      </p:sp>
      <p:grpSp>
        <p:nvGrpSpPr>
          <p:cNvPr id="17" name="Group 16">
            <a:extLst>
              <a:ext uri="{FF2B5EF4-FFF2-40B4-BE49-F238E27FC236}">
                <a16:creationId xmlns:a16="http://schemas.microsoft.com/office/drawing/2014/main" id="{E7C56CCA-C9C6-B6D0-A901-51B9BCAF7CEA}"/>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B96E71D2-68AD-A26B-3B30-E6C1F3FF51A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0AEA7227-8DCE-40CD-59C0-86A29654A7EB}"/>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5" name="Picture 4">
            <a:extLst>
              <a:ext uri="{FF2B5EF4-FFF2-40B4-BE49-F238E27FC236}">
                <a16:creationId xmlns:a16="http://schemas.microsoft.com/office/drawing/2014/main" id="{B68506F2-70BE-8BE9-4627-12A57F2316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572250" y="1337187"/>
            <a:ext cx="5200649" cy="4739763"/>
          </a:xfrm>
          <a:prstGeom prst="rect">
            <a:avLst/>
          </a:prstGeom>
          <a:noFill/>
          <a:ln>
            <a:noFill/>
          </a:ln>
        </p:spPr>
      </p:pic>
      <p:graphicFrame>
        <p:nvGraphicFramePr>
          <p:cNvPr id="6" name="Table 5">
            <a:extLst>
              <a:ext uri="{FF2B5EF4-FFF2-40B4-BE49-F238E27FC236}">
                <a16:creationId xmlns:a16="http://schemas.microsoft.com/office/drawing/2014/main" id="{2BCD25E6-67C6-139C-7D6A-1B8F01C41388}"/>
              </a:ext>
            </a:extLst>
          </p:cNvPr>
          <p:cNvGraphicFramePr>
            <a:graphicFrameLocks noGrp="1"/>
          </p:cNvGraphicFramePr>
          <p:nvPr>
            <p:extLst>
              <p:ext uri="{D42A27DB-BD31-4B8C-83A1-F6EECF244321}">
                <p14:modId xmlns:p14="http://schemas.microsoft.com/office/powerpoint/2010/main" val="2101496062"/>
              </p:ext>
            </p:extLst>
          </p:nvPr>
        </p:nvGraphicFramePr>
        <p:xfrm>
          <a:off x="192874" y="1894978"/>
          <a:ext cx="6184710" cy="3915271"/>
        </p:xfrm>
        <a:graphic>
          <a:graphicData uri="http://schemas.openxmlformats.org/drawingml/2006/table">
            <a:tbl>
              <a:tblPr firstRow="1" firstCol="1" bandRow="1">
                <a:tableStyleId>{9D7B26C5-4107-4FEC-AEDC-1716B250A1EF}</a:tableStyleId>
              </a:tblPr>
              <a:tblGrid>
                <a:gridCol w="1729245">
                  <a:extLst>
                    <a:ext uri="{9D8B030D-6E8A-4147-A177-3AD203B41FA5}">
                      <a16:colId xmlns:a16="http://schemas.microsoft.com/office/drawing/2014/main" val="3553452832"/>
                    </a:ext>
                  </a:extLst>
                </a:gridCol>
                <a:gridCol w="1228283">
                  <a:extLst>
                    <a:ext uri="{9D8B030D-6E8A-4147-A177-3AD203B41FA5}">
                      <a16:colId xmlns:a16="http://schemas.microsoft.com/office/drawing/2014/main" val="723329332"/>
                    </a:ext>
                  </a:extLst>
                </a:gridCol>
                <a:gridCol w="906678">
                  <a:extLst>
                    <a:ext uri="{9D8B030D-6E8A-4147-A177-3AD203B41FA5}">
                      <a16:colId xmlns:a16="http://schemas.microsoft.com/office/drawing/2014/main" val="3127966331"/>
                    </a:ext>
                  </a:extLst>
                </a:gridCol>
                <a:gridCol w="1199833">
                  <a:extLst>
                    <a:ext uri="{9D8B030D-6E8A-4147-A177-3AD203B41FA5}">
                      <a16:colId xmlns:a16="http://schemas.microsoft.com/office/drawing/2014/main" val="4146015456"/>
                    </a:ext>
                  </a:extLst>
                </a:gridCol>
                <a:gridCol w="1120671">
                  <a:extLst>
                    <a:ext uri="{9D8B030D-6E8A-4147-A177-3AD203B41FA5}">
                      <a16:colId xmlns:a16="http://schemas.microsoft.com/office/drawing/2014/main" val="1194449693"/>
                    </a:ext>
                  </a:extLst>
                </a:gridCol>
              </a:tblGrid>
              <a:tr h="633265">
                <a:tc>
                  <a:txBody>
                    <a:bodyPr/>
                    <a:lstStyle/>
                    <a:p>
                      <a:pPr marL="0" marR="0" algn="just">
                        <a:lnSpc>
                          <a:spcPct val="150000"/>
                        </a:lnSpc>
                        <a:spcAft>
                          <a:spcPts val="800"/>
                        </a:spcAft>
                        <a:buNone/>
                      </a:pPr>
                      <a:r>
                        <a:rPr lang="en-US" sz="1800" kern="100" dirty="0">
                          <a:effectLst/>
                        </a:rPr>
                        <a:t>Class</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Precision</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Recall</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F1-Score</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Support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2872432"/>
                  </a:ext>
                </a:extLst>
              </a:tr>
              <a:tr h="536003">
                <a:tc>
                  <a:txBody>
                    <a:bodyPr/>
                    <a:lstStyle/>
                    <a:p>
                      <a:pPr marL="0" marR="0" algn="just">
                        <a:lnSpc>
                          <a:spcPct val="150000"/>
                        </a:lnSpc>
                        <a:spcAft>
                          <a:spcPts val="800"/>
                        </a:spcAft>
                        <a:buNone/>
                      </a:pPr>
                      <a:r>
                        <a:rPr lang="en-US" sz="1800" kern="100" dirty="0">
                          <a:effectLst/>
                        </a:rPr>
                        <a:t>0</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0.99</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0.87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0.92</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8,524</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5577614"/>
                  </a:ext>
                </a:extLst>
              </a:tr>
              <a:tr h="536003">
                <a:tc>
                  <a:txBody>
                    <a:bodyPr/>
                    <a:lstStyle/>
                    <a:p>
                      <a:pPr marL="0" marR="0" algn="just">
                        <a:lnSpc>
                          <a:spcPct val="150000"/>
                        </a:lnSpc>
                        <a:spcAft>
                          <a:spcPts val="800"/>
                        </a:spcAft>
                        <a:buNone/>
                      </a:pPr>
                      <a:r>
                        <a:rPr lang="en-US" sz="1800" kern="100">
                          <a:effectLst/>
                        </a:rPr>
                        <a:t>1</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0.88</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0.99</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0.93</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8,523</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4997843"/>
                  </a:ext>
                </a:extLst>
              </a:tr>
              <a:tr h="536003">
                <a:tc>
                  <a:txBody>
                    <a:bodyPr/>
                    <a:lstStyle/>
                    <a:p>
                      <a:pPr marL="0" marR="0" algn="just">
                        <a:lnSpc>
                          <a:spcPct val="150000"/>
                        </a:lnSpc>
                        <a:spcAft>
                          <a:spcPts val="800"/>
                        </a:spcAft>
                        <a:buNone/>
                      </a:pPr>
                      <a:r>
                        <a:rPr lang="en-US" sz="1800" kern="100">
                          <a:effectLst/>
                        </a:rPr>
                        <a:t>Accuracy</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0.93</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8238791"/>
                  </a:ext>
                </a:extLst>
              </a:tr>
              <a:tr h="536003">
                <a:tc>
                  <a:txBody>
                    <a:bodyPr/>
                    <a:lstStyle/>
                    <a:p>
                      <a:pPr marL="0" marR="0" algn="just">
                        <a:lnSpc>
                          <a:spcPct val="150000"/>
                        </a:lnSpc>
                        <a:spcAft>
                          <a:spcPts val="800"/>
                        </a:spcAft>
                        <a:buNone/>
                      </a:pPr>
                      <a:r>
                        <a:rPr lang="en-US" sz="1800" kern="100">
                          <a:effectLst/>
                        </a:rPr>
                        <a:t>Macro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0.94</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0.93</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0.93</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a:effectLst/>
                        </a:rPr>
                        <a:t>17,047</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187248"/>
                  </a:ext>
                </a:extLst>
              </a:tr>
              <a:tr h="1137994">
                <a:tc>
                  <a:txBody>
                    <a:bodyPr/>
                    <a:lstStyle/>
                    <a:p>
                      <a:pPr marL="0" marR="0" algn="just">
                        <a:lnSpc>
                          <a:spcPct val="150000"/>
                        </a:lnSpc>
                        <a:spcAft>
                          <a:spcPts val="800"/>
                        </a:spcAft>
                        <a:buNone/>
                      </a:pPr>
                      <a:r>
                        <a:rPr lang="en-US" sz="1800" kern="100">
                          <a:effectLst/>
                        </a:rPr>
                        <a:t>Weighted Avg</a:t>
                      </a:r>
                      <a:endParaRPr lang="en-US" sz="1800" kern="10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0.94</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0.93</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0.93</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800" kern="100" dirty="0">
                          <a:effectLst/>
                        </a:rPr>
                        <a:t>17,047</a:t>
                      </a:r>
                      <a:endParaRPr lang="en-US" sz="1800" kern="100" dirty="0">
                        <a:solidFill>
                          <a:srgbClr val="000000"/>
                        </a:solidFill>
                        <a:effectLst/>
                        <a:latin typeface="Posterama (Headings)"/>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5310472"/>
                  </a:ext>
                </a:extLst>
              </a:tr>
            </a:tbl>
          </a:graphicData>
        </a:graphic>
      </p:graphicFrame>
    </p:spTree>
    <p:extLst>
      <p:ext uri="{BB962C8B-B14F-4D97-AF65-F5344CB8AC3E}">
        <p14:creationId xmlns:p14="http://schemas.microsoft.com/office/powerpoint/2010/main" val="2258008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1264-DE46-8519-A8D9-6DE3EE63DA9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60B04CD-8D0D-0BFE-E1D1-2139F8A5711E}"/>
              </a:ext>
            </a:extLst>
          </p:cNvPr>
          <p:cNvSpPr>
            <a:spLocks noGrp="1"/>
          </p:cNvSpPr>
          <p:nvPr>
            <p:ph type="ctrTitle"/>
          </p:nvPr>
        </p:nvSpPr>
        <p:spPr>
          <a:xfrm>
            <a:off x="6333637" y="320003"/>
            <a:ext cx="4786877" cy="763899"/>
          </a:xfrm>
        </p:spPr>
        <p:txBody>
          <a:bodyPr/>
          <a:lstStyle/>
          <a:p>
            <a:r>
              <a:rPr lang="en-US" dirty="0"/>
              <a:t>Lessons Learned</a:t>
            </a:r>
          </a:p>
        </p:txBody>
      </p:sp>
      <p:sp>
        <p:nvSpPr>
          <p:cNvPr id="14" name="Subtitle 13">
            <a:extLst>
              <a:ext uri="{FF2B5EF4-FFF2-40B4-BE49-F238E27FC236}">
                <a16:creationId xmlns:a16="http://schemas.microsoft.com/office/drawing/2014/main" id="{CAE1306D-9835-4D68-2281-24DFB72CD56A}"/>
              </a:ext>
            </a:extLst>
          </p:cNvPr>
          <p:cNvSpPr>
            <a:spLocks noGrp="1"/>
          </p:cNvSpPr>
          <p:nvPr>
            <p:ph type="subTitle" idx="1"/>
          </p:nvPr>
        </p:nvSpPr>
        <p:spPr>
          <a:xfrm>
            <a:off x="3987800" y="1050204"/>
            <a:ext cx="7975601" cy="4045523"/>
          </a:xfrm>
        </p:spPr>
        <p:txBody>
          <a:bodyPr>
            <a:normAutofit/>
          </a:bodyPr>
          <a:lstStyle/>
          <a:p>
            <a:pPr>
              <a:lnSpc>
                <a:spcPct val="150000"/>
              </a:lnSpc>
            </a:pPr>
            <a:r>
              <a:rPr lang="en-US" dirty="0">
                <a:latin typeface="Posterama (Headings)"/>
              </a:rPr>
              <a:t>We learned that:</a:t>
            </a:r>
          </a:p>
          <a:p>
            <a:pPr marL="171450" lvl="0" indent="-171450">
              <a:lnSpc>
                <a:spcPct val="150000"/>
              </a:lnSpc>
              <a:buFont typeface="Wingdings" panose="05000000000000000000" pitchFamily="2" charset="2"/>
              <a:buChar char="ü"/>
            </a:pPr>
            <a:r>
              <a:rPr lang="en-US" dirty="0" err="1">
                <a:latin typeface="Posterama (Headings)"/>
              </a:rPr>
              <a:t>XGBoost</a:t>
            </a:r>
            <a:r>
              <a:rPr lang="en-US" dirty="0">
                <a:latin typeface="Posterama (Headings)"/>
              </a:rPr>
              <a:t> offers the best trade-off between accuracy and recall.</a:t>
            </a:r>
          </a:p>
          <a:p>
            <a:pPr marL="171450" lvl="0" indent="-171450">
              <a:lnSpc>
                <a:spcPct val="150000"/>
              </a:lnSpc>
              <a:buFont typeface="Wingdings" panose="05000000000000000000" pitchFamily="2" charset="2"/>
              <a:buChar char="ü"/>
            </a:pPr>
            <a:r>
              <a:rPr lang="en-US" dirty="0">
                <a:latin typeface="Posterama (Headings)"/>
              </a:rPr>
              <a:t>Ensemble models are robust but require careful tuning.</a:t>
            </a:r>
          </a:p>
          <a:p>
            <a:pPr marL="171450" lvl="0" indent="-171450">
              <a:lnSpc>
                <a:spcPct val="150000"/>
              </a:lnSpc>
              <a:buFont typeface="Wingdings" panose="05000000000000000000" pitchFamily="2" charset="2"/>
              <a:buChar char="ü"/>
            </a:pPr>
            <a:r>
              <a:rPr lang="en-US" dirty="0">
                <a:latin typeface="Posterama (Headings)"/>
              </a:rPr>
              <a:t>Classical models such as Logistic Regression still hold value for their simplicity and transparency.</a:t>
            </a:r>
          </a:p>
          <a:p>
            <a:pPr>
              <a:lnSpc>
                <a:spcPct val="150000"/>
              </a:lnSpc>
            </a:pPr>
            <a:endParaRPr lang="en-US" sz="2000" dirty="0">
              <a:latin typeface="Posterama (Headings)"/>
            </a:endParaRPr>
          </a:p>
        </p:txBody>
      </p:sp>
      <p:pic>
        <p:nvPicPr>
          <p:cNvPr id="11" name="Picture Placeholder 10" descr="A person with his hand on his chin">
            <a:extLst>
              <a:ext uri="{FF2B5EF4-FFF2-40B4-BE49-F238E27FC236}">
                <a16:creationId xmlns:a16="http://schemas.microsoft.com/office/drawing/2014/main" id="{3FB70D3E-7E0E-7D2A-EB03-5B156B0315B2}"/>
              </a:ext>
            </a:extLst>
          </p:cNvPr>
          <p:cNvPicPr>
            <a:picLocks noGrp="1" noChangeAspect="1"/>
          </p:cNvPicPr>
          <p:nvPr>
            <p:ph type="pic" sz="quarter" idx="11"/>
          </p:nvPr>
        </p:nvPicPr>
        <p:blipFill>
          <a:blip r:embed="rId3"/>
          <a:srcRect l="172" r="172"/>
          <a:stretch/>
        </p:blipFill>
        <p:spPr>
          <a:xfrm>
            <a:off x="1" y="-2235"/>
            <a:ext cx="4216400" cy="6862275"/>
          </a:xfrm>
        </p:spPr>
      </p:pic>
    </p:spTree>
    <p:extLst>
      <p:ext uri="{BB962C8B-B14F-4D97-AF65-F5344CB8AC3E}">
        <p14:creationId xmlns:p14="http://schemas.microsoft.com/office/powerpoint/2010/main" val="1990311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A person raising his hand">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l="8333" r="8333"/>
          <a:stretch/>
        </p:blipFill>
        <p:spPr>
          <a:xfrm flipH="1">
            <a:off x="7163691" y="0"/>
            <a:ext cx="5024825" cy="6858000"/>
          </a:xfrm>
        </p:spPr>
      </p:pic>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15</a:t>
            </a:fld>
            <a:endParaRPr lang="en-US" dirty="0"/>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sp>
        <p:nvSpPr>
          <p:cNvPr id="41" name="Title 2">
            <a:extLst>
              <a:ext uri="{FF2B5EF4-FFF2-40B4-BE49-F238E27FC236}">
                <a16:creationId xmlns:a16="http://schemas.microsoft.com/office/drawing/2014/main" id="{B3233649-79F4-FBB4-926D-6A265407196C}"/>
              </a:ext>
            </a:extLst>
          </p:cNvPr>
          <p:cNvSpPr>
            <a:spLocks noGrp="1"/>
          </p:cNvSpPr>
          <p:nvPr>
            <p:ph type="ctrTitle"/>
          </p:nvPr>
        </p:nvSpPr>
        <p:spPr>
          <a:xfrm>
            <a:off x="1481554" y="1260116"/>
            <a:ext cx="5024825" cy="3426183"/>
          </a:xfrm>
        </p:spPr>
        <p:txBody>
          <a:bodyPr/>
          <a:lstStyle/>
          <a:p>
            <a:r>
              <a:rPr lang="en-US" b="1" dirty="0"/>
              <a:t>Thank You / Q&amp;A</a:t>
            </a:r>
            <a:br>
              <a:rPr lang="en-US" b="1" dirty="0"/>
            </a:br>
            <a:br>
              <a:rPr lang="en-US" b="1" dirty="0"/>
            </a:br>
            <a:br>
              <a:rPr lang="en-US" b="1" dirty="0"/>
            </a:br>
            <a:endParaRPr lang="en-US" dirty="0"/>
          </a:p>
        </p:txBody>
      </p:sp>
    </p:spTree>
    <p:extLst>
      <p:ext uri="{BB962C8B-B14F-4D97-AF65-F5344CB8AC3E}">
        <p14:creationId xmlns:p14="http://schemas.microsoft.com/office/powerpoint/2010/main" val="1169167156"/>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997564FD-A068-4008-83B6-070AA4A47434}" vid="{E6A5A359-31DF-46AC-82A0-260451C80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CD227D-A683-415D-A610-20912E1CEA19}">
  <ds:schemaRefs>
    <ds:schemaRef ds:uri="http://schemas.microsoft.com/sharepoint/v3/contenttype/forms"/>
  </ds:schemaRefs>
</ds:datastoreItem>
</file>

<file path=customXml/itemProps2.xml><?xml version="1.0" encoding="utf-8"?>
<ds:datastoreItem xmlns:ds="http://schemas.openxmlformats.org/officeDocument/2006/customXml" ds:itemID="{CCE11EC4-AF13-4A6E-A5E0-5A264B291FD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E5DFD21-F030-4913-A53B-53AB3DF1C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corporate teach a course slides</Template>
  <TotalTime>287</TotalTime>
  <Words>1063</Words>
  <Application>Microsoft Office PowerPoint</Application>
  <PresentationFormat>Widescreen</PresentationFormat>
  <Paragraphs>288</Paragraphs>
  <Slides>15</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 MT</vt:lpstr>
      <vt:lpstr>Book Antiqua</vt:lpstr>
      <vt:lpstr>Calibri</vt:lpstr>
      <vt:lpstr>Century Gothic</vt:lpstr>
      <vt:lpstr>Courier New</vt:lpstr>
      <vt:lpstr>Posterama</vt:lpstr>
      <vt:lpstr>Posterama (Headings)</vt:lpstr>
      <vt:lpstr>Times New Roman</vt:lpstr>
      <vt:lpstr>Wingdings</vt:lpstr>
      <vt:lpstr>Custom</vt:lpstr>
      <vt:lpstr>Optimizing Stroke Prediction: Comparative Analysis of Machine Learning Models</vt:lpstr>
      <vt:lpstr>Outline</vt:lpstr>
      <vt:lpstr>Background/Problem Statement</vt:lpstr>
      <vt:lpstr>Dataset Overview</vt:lpstr>
      <vt:lpstr>Features in the Dataset</vt:lpstr>
      <vt:lpstr>Handling Imbalance Classes</vt:lpstr>
      <vt:lpstr>Methodology Pipeline</vt:lpstr>
      <vt:lpstr>Models Compared</vt:lpstr>
      <vt:lpstr>Model Performance Matrix</vt:lpstr>
      <vt:lpstr>Logistic Regression</vt:lpstr>
      <vt:lpstr>Random Forest</vt:lpstr>
      <vt:lpstr>SVC</vt:lpstr>
      <vt:lpstr>XGBoost</vt:lpstr>
      <vt:lpstr>Lessons Learned</vt:lpstr>
      <vt:lpstr>Thank You / Q&amp;A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 G3 15 GAMING</dc:creator>
  <cp:lastModifiedBy>DELL G3 15 GAMING</cp:lastModifiedBy>
  <cp:revision>3</cp:revision>
  <dcterms:created xsi:type="dcterms:W3CDTF">2026-02-01T07:41:41Z</dcterms:created>
  <dcterms:modified xsi:type="dcterms:W3CDTF">2026-02-01T17:23:58Z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